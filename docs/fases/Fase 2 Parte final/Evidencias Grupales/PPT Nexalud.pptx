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Medium"/>
      <p:regular r:id="rId43"/>
      <p:bold r:id="rId44"/>
      <p:italic r:id="rId45"/>
      <p:boldItalic r:id="rId46"/>
    </p:embeddedFont>
    <p:embeddedFont>
      <p:font typeface="Poppins"/>
      <p:regular r:id="rId47"/>
      <p:bold r:id="rId48"/>
      <p:italic r:id="rId49"/>
      <p:boldItalic r:id="rId50"/>
    </p:embeddedFont>
    <p:embeddedFont>
      <p:font typeface="PT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i9Qam646ZDyPFZLXl8PhKxkQ1s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447AE7-EB9E-4DDF-8FBE-C692B7A26649}">
  <a:tblStyle styleId="{C8447AE7-EB9E-4DDF-8FBE-C692B7A266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RobotoMedium-bold.fntdata"/><Relationship Id="rId43" Type="http://schemas.openxmlformats.org/officeDocument/2006/relationships/font" Target="fonts/RobotoMedium-regular.fntdata"/><Relationship Id="rId46" Type="http://schemas.openxmlformats.org/officeDocument/2006/relationships/font" Target="fonts/RobotoMedium-boldItalic.fntdata"/><Relationship Id="rId45" Type="http://schemas.openxmlformats.org/officeDocument/2006/relationships/font" Target="fonts/Roboto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bold.fntdata"/><Relationship Id="rId47" Type="http://schemas.openxmlformats.org/officeDocument/2006/relationships/font" Target="fonts/Poppins-regular.fntdata"/><Relationship Id="rId49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-regular.fntdata"/><Relationship Id="rId50" Type="http://schemas.openxmlformats.org/officeDocument/2006/relationships/font" Target="fonts/Poppins-boldItalic.fntdata"/><Relationship Id="rId53" Type="http://schemas.openxmlformats.org/officeDocument/2006/relationships/font" Target="fonts/PTSans-italic.fntdata"/><Relationship Id="rId52" Type="http://schemas.openxmlformats.org/officeDocument/2006/relationships/font" Target="fonts/PT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PT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8261a60b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a8261a60b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8261a60b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8261a60b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8261a60b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a8261a60b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8261a60b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a8261a60b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8261a60b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a8261a60b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8261a60b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a8261a60b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8261a60b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a8261a60b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8261a60b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a8261a60b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8261a60b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3a8261a60b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8261a60b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a8261a60b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a8261a60b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a8261a60b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8261a60b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a8261a60b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hyperlink" Target="https://bit.ly/3A1uf1Q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4"/>
          <p:cNvSpPr txBox="1"/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subTitle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4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4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4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4"/>
          <p:cNvGrpSpPr/>
          <p:nvPr/>
        </p:nvGrpSpPr>
        <p:grpSpPr>
          <a:xfrm>
            <a:off x="-6819" y="-7400"/>
            <a:ext cx="9157638" cy="5158300"/>
            <a:chOff x="0" y="0"/>
            <a:chExt cx="9157638" cy="5158300"/>
          </a:xfrm>
        </p:grpSpPr>
        <p:pic>
          <p:nvPicPr>
            <p:cNvPr id="20" name="Google Shape;2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25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25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25"/>
          <p:cNvSpPr txBox="1"/>
          <p:nvPr>
            <p:ph idx="2" type="title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5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subTitle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2" type="subTitle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3" type="subTitle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7" name="Google Shape;37;p26"/>
          <p:cNvSpPr txBox="1"/>
          <p:nvPr>
            <p:ph idx="4" type="subTitle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38" name="Google Shape;38;p26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39" name="Google Shape;3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7"/>
          <p:cNvSpPr txBox="1"/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5" name="Google Shape;45;p2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46" name="Google Shape;46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5400000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7"/>
          <p:cNvSpPr txBox="1"/>
          <p:nvPr>
            <p:ph idx="1" type="subTitle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4" name="Google Shape;54;p28"/>
          <p:cNvPicPr preferRelativeResize="0"/>
          <p:nvPr/>
        </p:nvPicPr>
        <p:blipFill rotWithShape="1">
          <a:blip r:embed="rId3">
            <a:alphaModFix/>
          </a:blip>
          <a:srcRect b="18270" l="31651" r="0" t="130"/>
          <a:stretch/>
        </p:blipFill>
        <p:spPr>
          <a:xfrm flipH="1" rot="10800000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9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0" name="Google Shape;60;p29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61" name="Google Shape;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9"/>
          <p:cNvPicPr preferRelativeResize="0"/>
          <p:nvPr/>
        </p:nvPicPr>
        <p:blipFill rotWithShape="1">
          <a:blip r:embed="rId4">
            <a:alphaModFix/>
          </a:blip>
          <a:srcRect b="129" l="0" r="0" t="128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29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0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9" name="Google Shape;69;p30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30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1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8" name="Google Shape;78;p31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31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3"/>
          <p:cNvSpPr txBox="1"/>
          <p:nvPr>
            <p:ph hasCustomPrompt="1" type="title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33"/>
          <p:cNvSpPr txBox="1"/>
          <p:nvPr>
            <p:ph idx="1" type="subTitle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1" name="Google Shape;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3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33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33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3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33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3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3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2" type="title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7" name="Google Shape;107;p35"/>
          <p:cNvSpPr txBox="1"/>
          <p:nvPr>
            <p:ph idx="3" type="title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35"/>
          <p:cNvSpPr txBox="1"/>
          <p:nvPr>
            <p:ph idx="4" type="title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35"/>
          <p:cNvSpPr txBox="1"/>
          <p:nvPr>
            <p:ph idx="5" type="title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0" name="Google Shape;110;p35"/>
          <p:cNvSpPr txBox="1"/>
          <p:nvPr>
            <p:ph idx="6" type="title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" name="Google Shape;111;p35"/>
          <p:cNvSpPr txBox="1"/>
          <p:nvPr>
            <p:ph idx="7" type="title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35"/>
          <p:cNvSpPr txBox="1"/>
          <p:nvPr>
            <p:ph idx="1" type="subTitle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3" name="Google Shape;113;p35"/>
          <p:cNvSpPr txBox="1"/>
          <p:nvPr>
            <p:ph idx="8" type="subTitle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4" name="Google Shape;114;p35"/>
          <p:cNvSpPr txBox="1"/>
          <p:nvPr>
            <p:ph idx="9" type="subTitle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5" name="Google Shape;115;p35"/>
          <p:cNvSpPr txBox="1"/>
          <p:nvPr>
            <p:ph idx="13" type="subTitle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6" name="Google Shape;116;p35"/>
          <p:cNvSpPr txBox="1"/>
          <p:nvPr>
            <p:ph idx="14" type="subTitle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7" name="Google Shape;117;p35"/>
          <p:cNvSpPr txBox="1"/>
          <p:nvPr>
            <p:ph idx="15" type="subTitle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18" name="Google Shape;118;p3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35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6"/>
          <p:cNvSpPr txBox="1"/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" type="subTitle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pic>
        <p:nvPicPr>
          <p:cNvPr id="128" name="Google Shape;128;p36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36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7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37" name="Google Shape;137;p3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38" name="Google Shape;1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7"/>
          <p:cNvPicPr preferRelativeResize="0"/>
          <p:nvPr/>
        </p:nvPicPr>
        <p:blipFill rotWithShape="1">
          <a:blip r:embed="rId4">
            <a:alphaModFix/>
          </a:blip>
          <a:srcRect b="129" l="0" r="0" t="128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3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37"/>
          <p:cNvSpPr txBox="1"/>
          <p:nvPr>
            <p:ph idx="3" type="subTitle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8"/>
          <p:cNvSpPr txBox="1"/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1" type="subTitle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38"/>
          <p:cNvSpPr/>
          <p:nvPr>
            <p:ph idx="2" type="pic"/>
          </p:nvPr>
        </p:nvSpPr>
        <p:spPr>
          <a:xfrm>
            <a:off x="713225" y="539500"/>
            <a:ext cx="2801100" cy="4064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9" name="Google Shape;149;p38"/>
          <p:cNvSpPr/>
          <p:nvPr>
            <p:ph idx="3" type="pic"/>
          </p:nvPr>
        </p:nvSpPr>
        <p:spPr>
          <a:xfrm>
            <a:off x="3595575" y="539500"/>
            <a:ext cx="2191200" cy="2328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p38"/>
          <p:cNvSpPr/>
          <p:nvPr>
            <p:ph idx="4" type="pic"/>
          </p:nvPr>
        </p:nvSpPr>
        <p:spPr>
          <a:xfrm>
            <a:off x="3595575" y="2953775"/>
            <a:ext cx="4835100" cy="1650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51" name="Google Shape;151;p38"/>
          <p:cNvPicPr preferRelativeResize="0"/>
          <p:nvPr/>
        </p:nvPicPr>
        <p:blipFill rotWithShape="1">
          <a:blip r:embed="rId3">
            <a:alphaModFix/>
          </a:blip>
          <a:srcRect b="129" l="73637" r="0" t="128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38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38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9"/>
          <p:cNvSpPr txBox="1"/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" type="body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5" name="Google Shape;165;p40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40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40"/>
          <p:cNvSpPr txBox="1"/>
          <p:nvPr>
            <p:ph idx="1" type="body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72" name="Google Shape;172;p40"/>
          <p:cNvSpPr txBox="1"/>
          <p:nvPr>
            <p:ph idx="2" type="subTitle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1"/>
          <p:cNvSpPr txBox="1"/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41"/>
          <p:cNvSpPr txBox="1"/>
          <p:nvPr>
            <p:ph idx="1" type="subTitle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41"/>
          <p:cNvSpPr txBox="1"/>
          <p:nvPr>
            <p:ph idx="2" type="subTitle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41"/>
          <p:cNvSpPr txBox="1"/>
          <p:nvPr>
            <p:ph idx="3" type="subTitle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41"/>
          <p:cNvSpPr txBox="1"/>
          <p:nvPr>
            <p:ph idx="4" type="subTitle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0" name="Google Shape;180;p41"/>
          <p:cNvSpPr txBox="1"/>
          <p:nvPr>
            <p:ph idx="5" type="subTitle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41"/>
          <p:cNvSpPr txBox="1"/>
          <p:nvPr>
            <p:ph idx="6" type="subTitle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182" name="Google Shape;1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41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1" type="subTitle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2" type="subTitle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3" type="subTitle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42"/>
          <p:cNvSpPr txBox="1"/>
          <p:nvPr>
            <p:ph idx="4" type="subTitle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42"/>
          <p:cNvSpPr txBox="1"/>
          <p:nvPr>
            <p:ph idx="5" type="subTitle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4" name="Google Shape;194;p42"/>
          <p:cNvSpPr txBox="1"/>
          <p:nvPr>
            <p:ph idx="6" type="subTitle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5" name="Google Shape;195;p42"/>
          <p:cNvSpPr txBox="1"/>
          <p:nvPr>
            <p:ph idx="7" type="subTitle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6" name="Google Shape;196;p42"/>
          <p:cNvSpPr txBox="1"/>
          <p:nvPr>
            <p:ph idx="8" type="subTitle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97" name="Google Shape;197;p42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5400000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42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43"/>
          <p:cNvSpPr txBox="1"/>
          <p:nvPr>
            <p:ph idx="1" type="subTitle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43"/>
          <p:cNvSpPr txBox="1"/>
          <p:nvPr>
            <p:ph idx="2" type="subTitle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43"/>
          <p:cNvSpPr txBox="1"/>
          <p:nvPr>
            <p:ph idx="3" type="subTitle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43"/>
          <p:cNvSpPr txBox="1"/>
          <p:nvPr>
            <p:ph idx="4" type="subTitle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43"/>
          <p:cNvSpPr txBox="1"/>
          <p:nvPr>
            <p:ph idx="5" type="subTitle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43"/>
          <p:cNvSpPr txBox="1"/>
          <p:nvPr>
            <p:ph idx="6" type="subTitle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43"/>
          <p:cNvSpPr txBox="1"/>
          <p:nvPr>
            <p:ph idx="7" type="subTitle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3" name="Google Shape;213;p43"/>
          <p:cNvSpPr txBox="1"/>
          <p:nvPr>
            <p:ph idx="8" type="subTitle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4" name="Google Shape;214;p43"/>
          <p:cNvSpPr txBox="1"/>
          <p:nvPr>
            <p:ph idx="9" type="subTitle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43"/>
          <p:cNvSpPr txBox="1"/>
          <p:nvPr>
            <p:ph idx="13" type="subTitle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43"/>
          <p:cNvSpPr txBox="1"/>
          <p:nvPr>
            <p:ph idx="14" type="subTitle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7" name="Google Shape;217;p43"/>
          <p:cNvSpPr txBox="1"/>
          <p:nvPr>
            <p:ph idx="15" type="subTitle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218" name="Google Shape;218;p43"/>
          <p:cNvPicPr preferRelativeResize="0"/>
          <p:nvPr/>
        </p:nvPicPr>
        <p:blipFill rotWithShape="1">
          <a:blip r:embed="rId3">
            <a:alphaModFix/>
          </a:blip>
          <a:srcRect b="22413" l="68148" r="0" t="0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4"/>
          <p:cNvSpPr txBox="1"/>
          <p:nvPr>
            <p:ph type="title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44"/>
          <p:cNvSpPr txBox="1"/>
          <p:nvPr>
            <p:ph idx="1" type="subTitle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4" name="Google Shape;224;p44"/>
          <p:cNvSpPr txBox="1"/>
          <p:nvPr>
            <p:ph idx="2" type="title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4"/>
          <p:cNvSpPr txBox="1"/>
          <p:nvPr>
            <p:ph idx="3" type="subTitle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6" name="Google Shape;226;p44"/>
          <p:cNvSpPr txBox="1"/>
          <p:nvPr>
            <p:ph idx="4" type="title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4"/>
          <p:cNvSpPr txBox="1"/>
          <p:nvPr>
            <p:ph idx="5" type="subTitle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28" name="Google Shape;228;p44"/>
          <p:cNvGrpSpPr/>
          <p:nvPr/>
        </p:nvGrpSpPr>
        <p:grpSpPr>
          <a:xfrm>
            <a:off x="0" y="0"/>
            <a:ext cx="9149044" cy="5153908"/>
            <a:chOff x="0" y="0"/>
            <a:chExt cx="9149044" cy="5153908"/>
          </a:xfrm>
        </p:grpSpPr>
        <p:grpSp>
          <p:nvGrpSpPr>
            <p:cNvPr id="229" name="Google Shape;229;p44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4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4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44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4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4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44"/>
          <p:cNvPicPr preferRelativeResize="0"/>
          <p:nvPr/>
        </p:nvPicPr>
        <p:blipFill rotWithShape="1">
          <a:blip r:embed="rId6">
            <a:alphaModFix/>
          </a:blip>
          <a:srcRect b="129" l="0" r="0" t="128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9" name="Google Shape;239;p45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45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48" name="Google Shape;248;p46"/>
          <p:cNvPicPr preferRelativeResize="0"/>
          <p:nvPr/>
        </p:nvPicPr>
        <p:blipFill rotWithShape="1">
          <a:blip r:embed="rId3">
            <a:alphaModFix/>
          </a:blip>
          <a:srcRect b="34261" l="14812" r="0" t="0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46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5" name="Google Shape;255;p4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47"/>
          <p:cNvPicPr preferRelativeResize="0"/>
          <p:nvPr/>
        </p:nvPicPr>
        <p:blipFill rotWithShape="1">
          <a:blip r:embed="rId5">
            <a:alphaModFix/>
          </a:blip>
          <a:srcRect b="41940" l="0" r="56111" t="0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-5400000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3" name="Google Shape;263;p48"/>
          <p:cNvPicPr preferRelativeResize="0"/>
          <p:nvPr/>
        </p:nvPicPr>
        <p:blipFill rotWithShape="1">
          <a:blip r:embed="rId3">
            <a:alphaModFix/>
          </a:blip>
          <a:srcRect b="35495" l="0" r="0" t="128"/>
          <a:stretch/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48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1" name="Google Shape;271;p49"/>
          <p:cNvGrpSpPr/>
          <p:nvPr/>
        </p:nvGrpSpPr>
        <p:grpSpPr>
          <a:xfrm flipH="1" rot="10800000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8" name="Google Shape;278;p50"/>
          <p:cNvGrpSpPr/>
          <p:nvPr/>
        </p:nvGrpSpPr>
        <p:grpSpPr>
          <a:xfrm>
            <a:off x="0" y="12"/>
            <a:ext cx="9144000" cy="5143488"/>
            <a:chOff x="0" y="12"/>
            <a:chExt cx="9144000" cy="5143488"/>
          </a:xfrm>
        </p:grpSpPr>
        <p:pic>
          <p:nvPicPr>
            <p:cNvPr id="279" name="Google Shape;279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400000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-5400000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0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1"/>
          <p:cNvSpPr txBox="1"/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51"/>
          <p:cNvSpPr txBox="1"/>
          <p:nvPr>
            <p:ph idx="1" type="subTitle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51"/>
          <p:cNvSpPr/>
          <p:nvPr>
            <p:ph idx="2" type="pic"/>
          </p:nvPr>
        </p:nvSpPr>
        <p:spPr>
          <a:xfrm>
            <a:off x="713225" y="539550"/>
            <a:ext cx="3072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grpSp>
        <p:nvGrpSpPr>
          <p:cNvPr id="289" name="Google Shape;289;p51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51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5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51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5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5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51"/>
          <p:cNvGrpSpPr/>
          <p:nvPr/>
        </p:nvGrpSpPr>
        <p:grpSpPr>
          <a:xfrm>
            <a:off x="0" y="-11538"/>
            <a:ext cx="9143999" cy="5155026"/>
            <a:chOff x="0" y="-11538"/>
            <a:chExt cx="9143999" cy="5155026"/>
          </a:xfrm>
        </p:grpSpPr>
        <p:pic>
          <p:nvPicPr>
            <p:cNvPr id="297" name="Google Shape;297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5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51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2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52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5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52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5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5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3"/>
          <p:cNvPicPr preferRelativeResize="0"/>
          <p:nvPr/>
        </p:nvPicPr>
        <p:blipFill rotWithShape="1">
          <a:blip r:embed="rId3">
            <a:alphaModFix/>
          </a:blip>
          <a:srcRect b="129" l="73637" r="0" t="128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53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 rot="5400000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53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5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b="0"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"/>
          <p:cNvSpPr txBox="1"/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Sistema de gestión médica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Nexalud</a:t>
            </a:r>
            <a:endParaRPr/>
          </a:p>
        </p:txBody>
      </p:sp>
      <p:sp>
        <p:nvSpPr>
          <p:cNvPr id="324" name="Google Shape;324;p1"/>
          <p:cNvSpPr txBox="1"/>
          <p:nvPr>
            <p:ph idx="1" type="subTitle"/>
          </p:nvPr>
        </p:nvSpPr>
        <p:spPr>
          <a:xfrm>
            <a:off x="972300" y="3246596"/>
            <a:ext cx="71994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Integrantes: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Sergio Aracena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Martín Casas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Álvaro Figueroa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Asignatura:</a:t>
            </a:r>
            <a:r>
              <a:rPr lang="en"/>
              <a:t> Capstone (004D)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"/>
          <p:cNvSpPr txBox="1"/>
          <p:nvPr>
            <p:ph type="title"/>
          </p:nvPr>
        </p:nvSpPr>
        <p:spPr>
          <a:xfrm>
            <a:off x="4047175" y="2557875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Problemática</a:t>
            </a:r>
            <a:endParaRPr/>
          </a:p>
        </p:txBody>
      </p:sp>
      <p:grpSp>
        <p:nvGrpSpPr>
          <p:cNvPr id="331" name="Google Shape;331;p2"/>
          <p:cNvGrpSpPr/>
          <p:nvPr/>
        </p:nvGrpSpPr>
        <p:grpSpPr>
          <a:xfrm>
            <a:off x="634634" y="1990553"/>
            <a:ext cx="2744976" cy="2730447"/>
            <a:chOff x="2404875" y="3955825"/>
            <a:chExt cx="296950" cy="295375"/>
          </a:xfrm>
        </p:grpSpPr>
        <p:sp>
          <p:nvSpPr>
            <p:cNvPr id="332" name="Google Shape;332;p2"/>
            <p:cNvSpPr/>
            <p:nvPr/>
          </p:nvSpPr>
          <p:spPr>
            <a:xfrm>
              <a:off x="2404875" y="3955825"/>
              <a:ext cx="219775" cy="224500"/>
            </a:xfrm>
            <a:custGeom>
              <a:rect b="b" l="l" r="r" t="t"/>
              <a:pathLst>
                <a:path extrusionOk="0" h="8980" w="8791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5000" lIns="715000" spcFirstLastPara="1" rIns="715000" wrap="square" tIns="71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510400" y="4024075"/>
              <a:ext cx="191425" cy="87575"/>
            </a:xfrm>
            <a:custGeom>
              <a:rect b="b" l="l" r="r" t="t"/>
              <a:pathLst>
                <a:path extrusionOk="0" h="3503" w="7657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5000" lIns="715000" spcFirstLastPara="1" rIns="715000" wrap="square" tIns="71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24550" y="4188175"/>
              <a:ext cx="189050" cy="63025"/>
            </a:xfrm>
            <a:custGeom>
              <a:rect b="b" l="l" r="r" t="t"/>
              <a:pathLst>
                <a:path extrusionOk="0" h="2521" w="7562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5000" lIns="715000" spcFirstLastPara="1" rIns="715000" wrap="square" tIns="71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57625" y="4007025"/>
              <a:ext cx="115025" cy="122100"/>
            </a:xfrm>
            <a:custGeom>
              <a:rect b="b" l="l" r="r" t="t"/>
              <a:pathLst>
                <a:path extrusionOk="0" h="4884" w="4601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5000" lIns="715000" spcFirstLastPara="1" rIns="715000" wrap="square" tIns="71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"/>
          <p:cNvSpPr txBox="1"/>
          <p:nvPr>
            <p:ph type="title"/>
          </p:nvPr>
        </p:nvSpPr>
        <p:spPr>
          <a:xfrm>
            <a:off x="1814050" y="259900"/>
            <a:ext cx="54618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Un Incremento del 133% 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1800">
                <a:solidFill>
                  <a:srgbClr val="191919"/>
                </a:solidFill>
              </a:rPr>
              <a:t>De pacientes en listas de espera</a:t>
            </a:r>
            <a:endParaRPr b="0" sz="1800">
              <a:solidFill>
                <a:srgbClr val="191919"/>
              </a:solidFill>
            </a:endParaRPr>
          </a:p>
        </p:txBody>
      </p:sp>
      <p:sp>
        <p:nvSpPr>
          <p:cNvPr id="341" name="Google Shape;341;p3"/>
          <p:cNvSpPr txBox="1"/>
          <p:nvPr>
            <p:ph type="title"/>
          </p:nvPr>
        </p:nvSpPr>
        <p:spPr>
          <a:xfrm>
            <a:off x="1814050" y="1581575"/>
            <a:ext cx="54618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Aumento del 31%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1800">
                <a:solidFill>
                  <a:srgbClr val="191919"/>
                </a:solidFill>
              </a:rPr>
              <a:t>En cirugías realizadas a pacientes en 2018-2023</a:t>
            </a:r>
            <a:endParaRPr b="0" sz="1800">
              <a:solidFill>
                <a:srgbClr val="191919"/>
              </a:solidFill>
            </a:endParaRPr>
          </a:p>
        </p:txBody>
      </p:sp>
      <p:sp>
        <p:nvSpPr>
          <p:cNvPr id="342" name="Google Shape;342;p3"/>
          <p:cNvSpPr txBox="1"/>
          <p:nvPr>
            <p:ph type="title"/>
          </p:nvPr>
        </p:nvSpPr>
        <p:spPr>
          <a:xfrm>
            <a:off x="1353100" y="3133100"/>
            <a:ext cx="63837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Necesidad Urgente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91919"/>
                </a:solidFill>
              </a:rPr>
              <a:t>Optimizar las atenciones médica</a:t>
            </a:r>
            <a:endParaRPr b="0" sz="1800">
              <a:solidFill>
                <a:srgbClr val="191919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91919"/>
                </a:solidFill>
              </a:rPr>
              <a:t>Y el flujo de los pacientes dentro del servicio de salud</a:t>
            </a:r>
            <a:endParaRPr b="0" sz="1800">
              <a:solidFill>
                <a:srgbClr val="191919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0" sz="1800">
              <a:solidFill>
                <a:srgbClr val="191919"/>
              </a:solidFill>
            </a:endParaRPr>
          </a:p>
        </p:txBody>
      </p:sp>
      <p:sp>
        <p:nvSpPr>
          <p:cNvPr id="343" name="Google Shape;343;p3"/>
          <p:cNvSpPr txBox="1"/>
          <p:nvPr/>
        </p:nvSpPr>
        <p:spPr>
          <a:xfrm>
            <a:off x="141925" y="4835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i="1" lang="en" sz="800">
                <a:solidFill>
                  <a:srgbClr val="191919"/>
                </a:solidFill>
              </a:rPr>
              <a:t>PUCV, 2024</a:t>
            </a:r>
            <a:endParaRPr i="1" sz="800">
              <a:solidFill>
                <a:srgbClr val="19191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9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Solución</a:t>
            </a:r>
            <a:endParaRPr/>
          </a:p>
        </p:txBody>
      </p:sp>
      <p:grpSp>
        <p:nvGrpSpPr>
          <p:cNvPr id="350" name="Google Shape;350;p9"/>
          <p:cNvGrpSpPr/>
          <p:nvPr/>
        </p:nvGrpSpPr>
        <p:grpSpPr>
          <a:xfrm>
            <a:off x="997297" y="1798406"/>
            <a:ext cx="2158807" cy="2984688"/>
            <a:chOff x="-38129425" y="3222550"/>
            <a:chExt cx="228450" cy="315850"/>
          </a:xfrm>
        </p:grpSpPr>
        <p:sp>
          <p:nvSpPr>
            <p:cNvPr id="351" name="Google Shape;351;p9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Sistema de gestión médica Nexalud</a:t>
            </a:r>
            <a:endParaRPr/>
          </a:p>
        </p:txBody>
      </p:sp>
      <p:sp>
        <p:nvSpPr>
          <p:cNvPr id="358" name="Google Shape;358;p10"/>
          <p:cNvSpPr txBox="1"/>
          <p:nvPr>
            <p:ph idx="2" type="subTitle"/>
          </p:nvPr>
        </p:nvSpPr>
        <p:spPr>
          <a:xfrm>
            <a:off x="3636300" y="1563825"/>
            <a:ext cx="47877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Nexalud es un sistema que permite realizar un seguimiento de la ruta de los pacientes y reducir la incertidumbre de la espera de atención.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Además, permitirá recopilar información acerca de los tiempos de atención y uso de los espacios en base a las métricas recopiladas.</a:t>
            </a:r>
            <a:endParaRPr sz="1300"/>
          </a:p>
        </p:txBody>
      </p:sp>
      <p:grpSp>
        <p:nvGrpSpPr>
          <p:cNvPr id="359" name="Google Shape;359;p10"/>
          <p:cNvGrpSpPr/>
          <p:nvPr/>
        </p:nvGrpSpPr>
        <p:grpSpPr>
          <a:xfrm>
            <a:off x="383820" y="1563830"/>
            <a:ext cx="2885571" cy="2430913"/>
            <a:chOff x="7636443" y="1204988"/>
            <a:chExt cx="804565" cy="677795"/>
          </a:xfrm>
        </p:grpSpPr>
        <p:grpSp>
          <p:nvGrpSpPr>
            <p:cNvPr id="360" name="Google Shape;360;p10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361" name="Google Shape;361;p10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3" name="Google Shape;363;p10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364" name="Google Shape;364;p10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" name="Google Shape;366;p10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367" name="Google Shape;367;p10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0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10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370" name="Google Shape;370;p10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0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a8261a60b0_0_28"/>
          <p:cNvPicPr preferRelativeResize="0"/>
          <p:nvPr/>
        </p:nvPicPr>
        <p:blipFill rotWithShape="1">
          <a:blip r:embed="rId3">
            <a:alphaModFix/>
          </a:blip>
          <a:srcRect b="129" l="0" r="0" t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a8261a60b0_0_28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Valor Agregado</a:t>
            </a:r>
            <a:endParaRPr/>
          </a:p>
        </p:txBody>
      </p:sp>
      <p:grpSp>
        <p:nvGrpSpPr>
          <p:cNvPr id="378" name="Google Shape;378;g3a8261a60b0_0_28"/>
          <p:cNvGrpSpPr/>
          <p:nvPr/>
        </p:nvGrpSpPr>
        <p:grpSpPr>
          <a:xfrm>
            <a:off x="997329" y="1798403"/>
            <a:ext cx="2158807" cy="2984688"/>
            <a:chOff x="-38129425" y="3222550"/>
            <a:chExt cx="228450" cy="315850"/>
          </a:xfrm>
        </p:grpSpPr>
        <p:sp>
          <p:nvSpPr>
            <p:cNvPr id="379" name="Google Shape;379;g3a8261a60b0_0_28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a8261a60b0_0_28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8261a60b0_0_5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Sistema de gestión médica Nexalud</a:t>
            </a:r>
            <a:endParaRPr/>
          </a:p>
        </p:txBody>
      </p:sp>
      <p:sp>
        <p:nvSpPr>
          <p:cNvPr id="386" name="Google Shape;386;g3a8261a60b0_0_57"/>
          <p:cNvSpPr txBox="1"/>
          <p:nvPr>
            <p:ph idx="2" type="subTitle"/>
          </p:nvPr>
        </p:nvSpPr>
        <p:spPr>
          <a:xfrm>
            <a:off x="3636300" y="1563825"/>
            <a:ext cx="47877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Nexalud es un sistema que permite realizar un seguimiento de la ruta de los pacientes y reducir la incertidumbre de la espera de atención.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Además, permitirá recopilar información acerca de los tiempos de atención y uso de los espacios en base a las métricas recopiladas.</a:t>
            </a:r>
            <a:endParaRPr sz="1300"/>
          </a:p>
        </p:txBody>
      </p:sp>
      <p:grpSp>
        <p:nvGrpSpPr>
          <p:cNvPr id="387" name="Google Shape;387;g3a8261a60b0_0_57"/>
          <p:cNvGrpSpPr/>
          <p:nvPr/>
        </p:nvGrpSpPr>
        <p:grpSpPr>
          <a:xfrm>
            <a:off x="383833" y="1563828"/>
            <a:ext cx="2885573" cy="2430913"/>
            <a:chOff x="7636443" y="1204988"/>
            <a:chExt cx="804565" cy="677795"/>
          </a:xfrm>
        </p:grpSpPr>
        <p:grpSp>
          <p:nvGrpSpPr>
            <p:cNvPr id="388" name="Google Shape;388;g3a8261a60b0_0_57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389" name="Google Shape;389;g3a8261a60b0_0_57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g3a8261a60b0_0_57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g3a8261a60b0_0_57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392" name="Google Shape;392;g3a8261a60b0_0_57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g3a8261a60b0_0_57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g3a8261a60b0_0_57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395" name="Google Shape;395;g3a8261a60b0_0_57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g3a8261a60b0_0_57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g3a8261a60b0_0_57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398" name="Google Shape;398;g3a8261a60b0_0_57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g3a8261a60b0_0_57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g3a8261a60b0_0_42"/>
          <p:cNvPicPr preferRelativeResize="0"/>
          <p:nvPr/>
        </p:nvPicPr>
        <p:blipFill rotWithShape="1">
          <a:blip r:embed="rId3">
            <a:alphaModFix/>
          </a:blip>
          <a:srcRect b="129" l="0" r="0" t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a8261a60b0_0_42"/>
          <p:cNvSpPr txBox="1"/>
          <p:nvPr>
            <p:ph type="title"/>
          </p:nvPr>
        </p:nvSpPr>
        <p:spPr>
          <a:xfrm>
            <a:off x="4373250" y="107140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Áreas</a:t>
            </a:r>
            <a:r>
              <a:rPr lang="en"/>
              <a:t> de desempeño   </a:t>
            </a:r>
            <a:endParaRPr/>
          </a:p>
        </p:txBody>
      </p:sp>
      <p:grpSp>
        <p:nvGrpSpPr>
          <p:cNvPr id="406" name="Google Shape;406;g3a8261a60b0_0_42"/>
          <p:cNvGrpSpPr/>
          <p:nvPr/>
        </p:nvGrpSpPr>
        <p:grpSpPr>
          <a:xfrm>
            <a:off x="997329" y="1798403"/>
            <a:ext cx="2158807" cy="2984688"/>
            <a:chOff x="-38129425" y="3222550"/>
            <a:chExt cx="228450" cy="315850"/>
          </a:xfrm>
        </p:grpSpPr>
        <p:sp>
          <p:nvSpPr>
            <p:cNvPr id="407" name="Google Shape;407;g3a8261a60b0_0_42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a8261a60b0_0_42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39425" lIns="739425" spcFirstLastPara="1" rIns="739425" wrap="square" tIns="739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g3a8261a60b0_0_42"/>
          <p:cNvSpPr txBox="1"/>
          <p:nvPr>
            <p:ph type="title"/>
          </p:nvPr>
        </p:nvSpPr>
        <p:spPr>
          <a:xfrm>
            <a:off x="4108650" y="2737775"/>
            <a:ext cx="49128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Competencias de perfil de egreso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8261a60b0_0_7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Sistema de gestión médica Nexalud</a:t>
            </a:r>
            <a:endParaRPr/>
          </a:p>
        </p:txBody>
      </p:sp>
      <p:sp>
        <p:nvSpPr>
          <p:cNvPr id="415" name="Google Shape;415;g3a8261a60b0_0_75"/>
          <p:cNvSpPr txBox="1"/>
          <p:nvPr>
            <p:ph idx="2" type="subTitle"/>
          </p:nvPr>
        </p:nvSpPr>
        <p:spPr>
          <a:xfrm>
            <a:off x="3636300" y="1563825"/>
            <a:ext cx="47877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Nexalud es un sistema que permite realizar un seguimiento de la ruta de los pacientes y reducir la incertidumbre de la espera de atención.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Además, permitirá recopilar información acerca de los tiempos de atención y uso de los espacios en base a las métricas recopiladas.</a:t>
            </a:r>
            <a:endParaRPr sz="1300"/>
          </a:p>
        </p:txBody>
      </p:sp>
      <p:grpSp>
        <p:nvGrpSpPr>
          <p:cNvPr id="416" name="Google Shape;416;g3a8261a60b0_0_75"/>
          <p:cNvGrpSpPr/>
          <p:nvPr/>
        </p:nvGrpSpPr>
        <p:grpSpPr>
          <a:xfrm>
            <a:off x="383833" y="1563828"/>
            <a:ext cx="2885573" cy="2430913"/>
            <a:chOff x="7636443" y="1204988"/>
            <a:chExt cx="804565" cy="677795"/>
          </a:xfrm>
        </p:grpSpPr>
        <p:grpSp>
          <p:nvGrpSpPr>
            <p:cNvPr id="417" name="Google Shape;417;g3a8261a60b0_0_75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418" name="Google Shape;418;g3a8261a60b0_0_75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g3a8261a60b0_0_75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" name="Google Shape;420;g3a8261a60b0_0_75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421" name="Google Shape;421;g3a8261a60b0_0_75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g3a8261a60b0_0_75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" name="Google Shape;423;g3a8261a60b0_0_75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424" name="Google Shape;424;g3a8261a60b0_0_75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g3a8261a60b0_0_75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g3a8261a60b0_0_75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427" name="Google Shape;427;g3a8261a60b0_0_75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g3a8261a60b0_0_75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4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Objetivos del proyecto</a:t>
            </a:r>
            <a:endParaRPr/>
          </a:p>
        </p:txBody>
      </p:sp>
      <p:grpSp>
        <p:nvGrpSpPr>
          <p:cNvPr id="435" name="Google Shape;435;p4"/>
          <p:cNvGrpSpPr/>
          <p:nvPr/>
        </p:nvGrpSpPr>
        <p:grpSpPr>
          <a:xfrm>
            <a:off x="497743" y="2052359"/>
            <a:ext cx="2780814" cy="2758489"/>
            <a:chOff x="946175" y="3253275"/>
            <a:chExt cx="298550" cy="296150"/>
          </a:xfrm>
        </p:grpSpPr>
        <p:sp>
          <p:nvSpPr>
            <p:cNvPr id="436" name="Google Shape;436;p4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0450" lIns="720450" spcFirstLastPara="1" rIns="720450" wrap="square" tIns="72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0450" lIns="720450" spcFirstLastPara="1" rIns="720450" wrap="square" tIns="72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0450" lIns="720450" spcFirstLastPara="1" rIns="720450" wrap="square" tIns="72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0450" lIns="720450" spcFirstLastPara="1" rIns="720450" wrap="square" tIns="72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0450" lIns="720450" spcFirstLastPara="1" rIns="720450" wrap="square" tIns="72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"/>
          <p:cNvSpPr/>
          <p:nvPr/>
        </p:nvSpPr>
        <p:spPr>
          <a:xfrm>
            <a:off x="444699" y="1888501"/>
            <a:ext cx="1366500" cy="136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38200" lIns="138200" spcFirstLastPara="1" rIns="138200" wrap="square" tIns="138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6"/>
              <a:buFont typeface="Arial"/>
              <a:buNone/>
            </a:pPr>
            <a:r>
              <a:t/>
            </a:r>
            <a:endParaRPr b="0" i="0" sz="211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" name="Google Shape;446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447" name="Google Shape;447;p5"/>
          <p:cNvSpPr txBox="1"/>
          <p:nvPr>
            <p:ph idx="2" type="subTitle"/>
          </p:nvPr>
        </p:nvSpPr>
        <p:spPr>
          <a:xfrm>
            <a:off x="2001075" y="1491600"/>
            <a:ext cx="6332100" cy="21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Desarrollar un sistema que permita optimizar los tiempos de espera y el seguimiento de los pacientes.</a:t>
            </a:r>
            <a:endParaRPr sz="1600"/>
          </a:p>
        </p:txBody>
      </p:sp>
      <p:grpSp>
        <p:nvGrpSpPr>
          <p:cNvPr id="448" name="Google Shape;448;p5"/>
          <p:cNvGrpSpPr/>
          <p:nvPr/>
        </p:nvGrpSpPr>
        <p:grpSpPr>
          <a:xfrm>
            <a:off x="846671" y="2253648"/>
            <a:ext cx="562843" cy="636286"/>
            <a:chOff x="2353331" y="2090612"/>
            <a:chExt cx="333299" cy="376791"/>
          </a:xfrm>
        </p:grpSpPr>
        <p:sp>
          <p:nvSpPr>
            <p:cNvPr id="449" name="Google Shape;449;p5"/>
            <p:cNvSpPr/>
            <p:nvPr/>
          </p:nvSpPr>
          <p:spPr>
            <a:xfrm>
              <a:off x="2353331" y="2098864"/>
              <a:ext cx="123298" cy="184623"/>
            </a:xfrm>
            <a:custGeom>
              <a:rect b="b" l="l" r="r" t="t"/>
              <a:pathLst>
                <a:path extrusionOk="0" h="6533" w="4363">
                  <a:moveTo>
                    <a:pt x="2318" y="1"/>
                  </a:moveTo>
                  <a:lnTo>
                    <a:pt x="153" y="2167"/>
                  </a:lnTo>
                  <a:cubicBezTo>
                    <a:pt x="20" y="2299"/>
                    <a:pt x="0" y="2504"/>
                    <a:pt x="104" y="2660"/>
                  </a:cubicBezTo>
                  <a:lnTo>
                    <a:pt x="2668" y="6533"/>
                  </a:lnTo>
                  <a:cubicBezTo>
                    <a:pt x="2824" y="6339"/>
                    <a:pt x="3037" y="6193"/>
                    <a:pt x="3279" y="6129"/>
                  </a:cubicBezTo>
                  <a:cubicBezTo>
                    <a:pt x="3379" y="6102"/>
                    <a:pt x="3481" y="6089"/>
                    <a:pt x="3582" y="6089"/>
                  </a:cubicBezTo>
                  <a:cubicBezTo>
                    <a:pt x="3712" y="6089"/>
                    <a:pt x="3841" y="6111"/>
                    <a:pt x="3965" y="6154"/>
                  </a:cubicBezTo>
                  <a:cubicBezTo>
                    <a:pt x="4017" y="5884"/>
                    <a:pt x="4161" y="5649"/>
                    <a:pt x="4363" y="5480"/>
                  </a:cubicBezTo>
                  <a:lnTo>
                    <a:pt x="2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8200" lIns="138200" spcFirstLastPara="1" rIns="138200" wrap="square" tIns="13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2563303" y="2098864"/>
              <a:ext cx="123327" cy="184623"/>
            </a:xfrm>
            <a:custGeom>
              <a:rect b="b" l="l" r="r" t="t"/>
              <a:pathLst>
                <a:path extrusionOk="0" h="6533" w="4364">
                  <a:moveTo>
                    <a:pt x="2045" y="1"/>
                  </a:moveTo>
                  <a:lnTo>
                    <a:pt x="1" y="5480"/>
                  </a:lnTo>
                  <a:cubicBezTo>
                    <a:pt x="202" y="5649"/>
                    <a:pt x="348" y="5884"/>
                    <a:pt x="399" y="6154"/>
                  </a:cubicBezTo>
                  <a:cubicBezTo>
                    <a:pt x="524" y="6110"/>
                    <a:pt x="655" y="6089"/>
                    <a:pt x="783" y="6089"/>
                  </a:cubicBezTo>
                  <a:cubicBezTo>
                    <a:pt x="885" y="6089"/>
                    <a:pt x="986" y="6102"/>
                    <a:pt x="1082" y="6128"/>
                  </a:cubicBezTo>
                  <a:cubicBezTo>
                    <a:pt x="1326" y="6193"/>
                    <a:pt x="1539" y="6339"/>
                    <a:pt x="1695" y="6533"/>
                  </a:cubicBezTo>
                  <a:lnTo>
                    <a:pt x="4260" y="2659"/>
                  </a:lnTo>
                  <a:cubicBezTo>
                    <a:pt x="4363" y="2504"/>
                    <a:pt x="4343" y="2299"/>
                    <a:pt x="4212" y="2167"/>
                  </a:cubicBezTo>
                  <a:lnTo>
                    <a:pt x="2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8200" lIns="138200" spcFirstLastPara="1" rIns="138200" wrap="square" tIns="13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2439326" y="2090612"/>
              <a:ext cx="161308" cy="66270"/>
            </a:xfrm>
            <a:custGeom>
              <a:rect b="b" l="l" r="r" t="t"/>
              <a:pathLst>
                <a:path extrusionOk="0" h="2345" w="5708">
                  <a:moveTo>
                    <a:pt x="0" y="1"/>
                  </a:moveTo>
                  <a:lnTo>
                    <a:pt x="879" y="2344"/>
                  </a:lnTo>
                  <a:lnTo>
                    <a:pt x="4829" y="234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8200" lIns="138200" spcFirstLastPara="1" rIns="138200" wrap="square" tIns="13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2419827" y="2267972"/>
              <a:ext cx="200279" cy="199431"/>
            </a:xfrm>
            <a:custGeom>
              <a:rect b="b" l="l" r="r" t="t"/>
              <a:pathLst>
                <a:path extrusionOk="0" h="7057" w="7087">
                  <a:moveTo>
                    <a:pt x="3544" y="2344"/>
                  </a:moveTo>
                  <a:cubicBezTo>
                    <a:pt x="4190" y="2344"/>
                    <a:pt x="4716" y="2869"/>
                    <a:pt x="4716" y="3516"/>
                  </a:cubicBezTo>
                  <a:cubicBezTo>
                    <a:pt x="4716" y="4162"/>
                    <a:pt x="4190" y="4687"/>
                    <a:pt x="3544" y="4687"/>
                  </a:cubicBezTo>
                  <a:cubicBezTo>
                    <a:pt x="2898" y="4687"/>
                    <a:pt x="2371" y="4162"/>
                    <a:pt x="2371" y="3516"/>
                  </a:cubicBezTo>
                  <a:cubicBezTo>
                    <a:pt x="2371" y="2869"/>
                    <a:pt x="2898" y="2344"/>
                    <a:pt x="3544" y="2344"/>
                  </a:cubicBezTo>
                  <a:close/>
                  <a:moveTo>
                    <a:pt x="2762" y="1"/>
                  </a:moveTo>
                  <a:cubicBezTo>
                    <a:pt x="2546" y="1"/>
                    <a:pt x="2371" y="176"/>
                    <a:pt x="2371" y="391"/>
                  </a:cubicBezTo>
                  <a:lnTo>
                    <a:pt x="2371" y="1056"/>
                  </a:lnTo>
                  <a:cubicBezTo>
                    <a:pt x="2243" y="1118"/>
                    <a:pt x="2119" y="1190"/>
                    <a:pt x="2001" y="1272"/>
                  </a:cubicBezTo>
                  <a:lnTo>
                    <a:pt x="1424" y="938"/>
                  </a:lnTo>
                  <a:cubicBezTo>
                    <a:pt x="1363" y="904"/>
                    <a:pt x="1295" y="886"/>
                    <a:pt x="1226" y="886"/>
                  </a:cubicBezTo>
                  <a:cubicBezTo>
                    <a:pt x="1193" y="886"/>
                    <a:pt x="1160" y="890"/>
                    <a:pt x="1128" y="899"/>
                  </a:cubicBezTo>
                  <a:cubicBezTo>
                    <a:pt x="1027" y="927"/>
                    <a:pt x="942" y="992"/>
                    <a:pt x="890" y="1081"/>
                  </a:cubicBezTo>
                  <a:lnTo>
                    <a:pt x="108" y="2434"/>
                  </a:lnTo>
                  <a:cubicBezTo>
                    <a:pt x="0" y="2621"/>
                    <a:pt x="65" y="2860"/>
                    <a:pt x="253" y="2968"/>
                  </a:cubicBezTo>
                  <a:lnTo>
                    <a:pt x="820" y="3296"/>
                  </a:lnTo>
                  <a:cubicBezTo>
                    <a:pt x="813" y="3369"/>
                    <a:pt x="810" y="3442"/>
                    <a:pt x="810" y="3516"/>
                  </a:cubicBezTo>
                  <a:cubicBezTo>
                    <a:pt x="810" y="3589"/>
                    <a:pt x="813" y="3663"/>
                    <a:pt x="820" y="3735"/>
                  </a:cubicBezTo>
                  <a:lnTo>
                    <a:pt x="253" y="4063"/>
                  </a:lnTo>
                  <a:cubicBezTo>
                    <a:pt x="65" y="4171"/>
                    <a:pt x="0" y="4410"/>
                    <a:pt x="108" y="4597"/>
                  </a:cubicBezTo>
                  <a:lnTo>
                    <a:pt x="890" y="5950"/>
                  </a:lnTo>
                  <a:cubicBezTo>
                    <a:pt x="963" y="6076"/>
                    <a:pt x="1094" y="6144"/>
                    <a:pt x="1228" y="6144"/>
                  </a:cubicBezTo>
                  <a:cubicBezTo>
                    <a:pt x="1295" y="6144"/>
                    <a:pt x="1362" y="6127"/>
                    <a:pt x="1424" y="6093"/>
                  </a:cubicBezTo>
                  <a:lnTo>
                    <a:pt x="2001" y="5760"/>
                  </a:lnTo>
                  <a:cubicBezTo>
                    <a:pt x="2119" y="5842"/>
                    <a:pt x="2243" y="5913"/>
                    <a:pt x="2371" y="5974"/>
                  </a:cubicBezTo>
                  <a:lnTo>
                    <a:pt x="2371" y="6667"/>
                  </a:lnTo>
                  <a:cubicBezTo>
                    <a:pt x="2371" y="6883"/>
                    <a:pt x="2546" y="7056"/>
                    <a:pt x="2762" y="7056"/>
                  </a:cubicBezTo>
                  <a:lnTo>
                    <a:pt x="4325" y="7056"/>
                  </a:lnTo>
                  <a:cubicBezTo>
                    <a:pt x="4541" y="7056"/>
                    <a:pt x="4716" y="6883"/>
                    <a:pt x="4716" y="6667"/>
                  </a:cubicBezTo>
                  <a:lnTo>
                    <a:pt x="4716" y="5974"/>
                  </a:lnTo>
                  <a:cubicBezTo>
                    <a:pt x="4844" y="5913"/>
                    <a:pt x="4968" y="5842"/>
                    <a:pt x="5086" y="5760"/>
                  </a:cubicBezTo>
                  <a:lnTo>
                    <a:pt x="5664" y="6093"/>
                  </a:lnTo>
                  <a:cubicBezTo>
                    <a:pt x="5725" y="6128"/>
                    <a:pt x="5792" y="6145"/>
                    <a:pt x="5859" y="6145"/>
                  </a:cubicBezTo>
                  <a:cubicBezTo>
                    <a:pt x="5992" y="6145"/>
                    <a:pt x="6124" y="6077"/>
                    <a:pt x="6197" y="5950"/>
                  </a:cubicBezTo>
                  <a:lnTo>
                    <a:pt x="6979" y="4597"/>
                  </a:lnTo>
                  <a:cubicBezTo>
                    <a:pt x="7087" y="4410"/>
                    <a:pt x="7023" y="4171"/>
                    <a:pt x="6836" y="4063"/>
                  </a:cubicBezTo>
                  <a:lnTo>
                    <a:pt x="6267" y="3735"/>
                  </a:lnTo>
                  <a:cubicBezTo>
                    <a:pt x="6275" y="3663"/>
                    <a:pt x="6278" y="3589"/>
                    <a:pt x="6278" y="3516"/>
                  </a:cubicBezTo>
                  <a:cubicBezTo>
                    <a:pt x="6278" y="3442"/>
                    <a:pt x="6275" y="3369"/>
                    <a:pt x="6267" y="3296"/>
                  </a:cubicBezTo>
                  <a:lnTo>
                    <a:pt x="6836" y="2968"/>
                  </a:lnTo>
                  <a:cubicBezTo>
                    <a:pt x="7023" y="2860"/>
                    <a:pt x="7087" y="2622"/>
                    <a:pt x="6979" y="2434"/>
                  </a:cubicBezTo>
                  <a:lnTo>
                    <a:pt x="6197" y="1081"/>
                  </a:lnTo>
                  <a:cubicBezTo>
                    <a:pt x="6124" y="955"/>
                    <a:pt x="5993" y="886"/>
                    <a:pt x="5858" y="886"/>
                  </a:cubicBezTo>
                  <a:cubicBezTo>
                    <a:pt x="5792" y="886"/>
                    <a:pt x="5725" y="903"/>
                    <a:pt x="5664" y="938"/>
                  </a:cubicBezTo>
                  <a:lnTo>
                    <a:pt x="5086" y="1272"/>
                  </a:lnTo>
                  <a:cubicBezTo>
                    <a:pt x="4968" y="1190"/>
                    <a:pt x="4844" y="1118"/>
                    <a:pt x="4716" y="1056"/>
                  </a:cubicBezTo>
                  <a:lnTo>
                    <a:pt x="4716" y="391"/>
                  </a:lnTo>
                  <a:cubicBezTo>
                    <a:pt x="4716" y="176"/>
                    <a:pt x="4541" y="1"/>
                    <a:pt x="4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8200" lIns="138200" spcFirstLastPara="1" rIns="138200" wrap="square" tIns="13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"/>
          <p:cNvSpPr/>
          <p:nvPr/>
        </p:nvSpPr>
        <p:spPr>
          <a:xfrm>
            <a:off x="273300" y="2208766"/>
            <a:ext cx="1604400" cy="160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275" lIns="162275" spcFirstLastPara="1" rIns="162275" wrap="square" tIns="162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5"/>
              <a:buFont typeface="Arial"/>
              <a:buNone/>
            </a:pPr>
            <a:r>
              <a:t/>
            </a:r>
            <a:endParaRPr b="0" i="0" sz="2485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 Específicos</a:t>
            </a:r>
            <a:endParaRPr/>
          </a:p>
        </p:txBody>
      </p:sp>
      <p:sp>
        <p:nvSpPr>
          <p:cNvPr id="459" name="Google Shape;459;p6"/>
          <p:cNvSpPr txBox="1"/>
          <p:nvPr>
            <p:ph idx="2" type="subTitle"/>
          </p:nvPr>
        </p:nvSpPr>
        <p:spPr>
          <a:xfrm>
            <a:off x="2112250" y="1280413"/>
            <a:ext cx="67887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Monitorear en tiempo real la ocupación de los box de atención médica.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300"/>
              <a:t>Visualizar el estado de avance de cada paciente mediante una barra de progreso (Consulta medica → Proceso de examen→ Revisión del Examen → Hospitalización → Operación → Alta).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Facilitar la gestión administrativa, permitiendo que secretarias y personal de apoyo detecten pacientes que no completaron su proceso.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Reducir la incertidumbre de la espera, generando mayor satisfacción en los pacientes y mayor eficiencia en el uso de recursos clínicos.</a:t>
            </a:r>
            <a:endParaRPr sz="1300"/>
          </a:p>
        </p:txBody>
      </p:sp>
      <p:grpSp>
        <p:nvGrpSpPr>
          <p:cNvPr id="460" name="Google Shape;460;p6"/>
          <p:cNvGrpSpPr/>
          <p:nvPr/>
        </p:nvGrpSpPr>
        <p:grpSpPr>
          <a:xfrm>
            <a:off x="701920" y="2637398"/>
            <a:ext cx="747082" cy="747138"/>
            <a:chOff x="4792819" y="2090612"/>
            <a:chExt cx="376762" cy="376791"/>
          </a:xfrm>
        </p:grpSpPr>
        <p:sp>
          <p:nvSpPr>
            <p:cNvPr id="461" name="Google Shape;461;p6"/>
            <p:cNvSpPr/>
            <p:nvPr/>
          </p:nvSpPr>
          <p:spPr>
            <a:xfrm>
              <a:off x="4992193" y="2179659"/>
              <a:ext cx="66298" cy="66270"/>
            </a:xfrm>
            <a:custGeom>
              <a:rect b="b" l="l" r="r" t="t"/>
              <a:pathLst>
                <a:path extrusionOk="0" h="2345" w="2346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4859767" y="2378327"/>
              <a:ext cx="22099" cy="22099"/>
            </a:xfrm>
            <a:custGeom>
              <a:rect b="b" l="l" r="r" t="t"/>
              <a:pathLst>
                <a:path extrusionOk="0" h="782" w="782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792819" y="2090612"/>
              <a:ext cx="376762" cy="376791"/>
            </a:xfrm>
            <a:custGeom>
              <a:rect b="b" l="l" r="r" t="t"/>
              <a:pathLst>
                <a:path extrusionOk="0" h="13333" w="13332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16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 txBox="1"/>
          <p:nvPr>
            <p:ph type="title"/>
          </p:nvPr>
        </p:nvSpPr>
        <p:spPr>
          <a:xfrm>
            <a:off x="4114525" y="2535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Metodología</a:t>
            </a:r>
            <a:endParaRPr/>
          </a:p>
        </p:txBody>
      </p:sp>
      <p:grpSp>
        <p:nvGrpSpPr>
          <p:cNvPr id="470" name="Google Shape;470;p16"/>
          <p:cNvGrpSpPr/>
          <p:nvPr/>
        </p:nvGrpSpPr>
        <p:grpSpPr>
          <a:xfrm>
            <a:off x="609944" y="2181947"/>
            <a:ext cx="2627086" cy="2627265"/>
            <a:chOff x="-49027775" y="3183175"/>
            <a:chExt cx="299325" cy="299325"/>
          </a:xfrm>
        </p:grpSpPr>
        <p:sp>
          <p:nvSpPr>
            <p:cNvPr id="471" name="Google Shape;471;p16"/>
            <p:cNvSpPr/>
            <p:nvPr/>
          </p:nvSpPr>
          <p:spPr>
            <a:xfrm>
              <a:off x="-48870250" y="3183175"/>
              <a:ext cx="141800" cy="185900"/>
            </a:xfrm>
            <a:custGeom>
              <a:rect b="b" l="l" r="r" t="t"/>
              <a:pathLst>
                <a:path extrusionOk="0" h="7436" w="5672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77850" lIns="677850" spcFirstLastPara="1" rIns="677850" wrap="square" tIns="67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-49027775" y="3183175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77850" lIns="677850" spcFirstLastPara="1" rIns="677850" wrap="square" tIns="67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-49027775" y="3295800"/>
              <a:ext cx="141800" cy="186700"/>
            </a:xfrm>
            <a:custGeom>
              <a:rect b="b" l="l" r="r" t="t"/>
              <a:pathLst>
                <a:path extrusionOk="0" h="7468" w="5672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77850" lIns="677850" spcFirstLastPara="1" rIns="677850" wrap="square" tIns="67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-48914350" y="3340700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77850" lIns="677850" spcFirstLastPara="1" rIns="677850" wrap="square" tIns="67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 txBox="1"/>
          <p:nvPr>
            <p:ph type="title"/>
          </p:nvPr>
        </p:nvSpPr>
        <p:spPr>
          <a:xfrm>
            <a:off x="-449700" y="3883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 Metodologia Agil SCRUM</a:t>
            </a:r>
            <a:endParaRPr/>
          </a:p>
        </p:txBody>
      </p:sp>
      <p:sp>
        <p:nvSpPr>
          <p:cNvPr id="480" name="Google Shape;480;p17"/>
          <p:cNvSpPr txBox="1"/>
          <p:nvPr>
            <p:ph idx="2" type="subTitle"/>
          </p:nvPr>
        </p:nvSpPr>
        <p:spPr>
          <a:xfrm>
            <a:off x="1597450" y="1625538"/>
            <a:ext cx="33405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 organizará el trabajo en 5 sprints con backlogs bien definidos y entregando incrementos al final de cada iteración.</a:t>
            </a:r>
            <a:endParaRPr/>
          </a:p>
        </p:txBody>
      </p:sp>
      <p:pic>
        <p:nvPicPr>
          <p:cNvPr id="481" name="Google Shape;4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955" y="1442283"/>
            <a:ext cx="1270420" cy="127043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/>
          <p:nvPr/>
        </p:nvSpPr>
        <p:spPr>
          <a:xfrm>
            <a:off x="5109484" y="1090803"/>
            <a:ext cx="3501300" cy="3501300"/>
          </a:xfrm>
          <a:prstGeom prst="ellipse">
            <a:avLst/>
          </a:prstGeom>
          <a:solidFill>
            <a:srgbClr val="D3E0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17"/>
          <p:cNvGrpSpPr/>
          <p:nvPr/>
        </p:nvGrpSpPr>
        <p:grpSpPr>
          <a:xfrm>
            <a:off x="5777176" y="693077"/>
            <a:ext cx="2166000" cy="2166000"/>
            <a:chOff x="3611776" y="414352"/>
            <a:chExt cx="2166000" cy="2166000"/>
          </a:xfrm>
        </p:grpSpPr>
        <p:sp>
          <p:nvSpPr>
            <p:cNvPr id="484" name="Google Shape;484;p17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91A4B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Mayor flexibilidad y adaptación</a:t>
              </a:r>
              <a:endParaRPr b="0" i="0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6" name="Google Shape;486;p17"/>
          <p:cNvGrpSpPr/>
          <p:nvPr/>
        </p:nvGrpSpPr>
        <p:grpSpPr>
          <a:xfrm>
            <a:off x="6727658" y="2311589"/>
            <a:ext cx="2166000" cy="2166000"/>
            <a:chOff x="4562258" y="2032864"/>
            <a:chExt cx="2166000" cy="2166000"/>
          </a:xfrm>
        </p:grpSpPr>
        <p:sp>
          <p:nvSpPr>
            <p:cNvPr id="487" name="Google Shape;487;p17"/>
            <p:cNvSpPr/>
            <p:nvPr/>
          </p:nvSpPr>
          <p:spPr>
            <a:xfrm>
              <a:off x="4562258" y="2032864"/>
              <a:ext cx="2166000" cy="2166000"/>
            </a:xfrm>
            <a:prstGeom prst="ellipse">
              <a:avLst/>
            </a:prstGeom>
            <a:solidFill>
              <a:srgbClr val="667D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 txBox="1"/>
            <p:nvPr/>
          </p:nvSpPr>
          <p:spPr>
            <a:xfrm>
              <a:off x="5026246" y="2764428"/>
              <a:ext cx="1496100" cy="702900"/>
            </a:xfrm>
            <a:prstGeom prst="rect">
              <a:avLst/>
            </a:prstGeom>
            <a:solidFill>
              <a:srgbClr val="667D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Mejora en la colaboración y autogestión</a:t>
              </a:r>
              <a:endParaRPr b="0" i="0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9" name="Google Shape;489;p17"/>
          <p:cNvGrpSpPr/>
          <p:nvPr/>
        </p:nvGrpSpPr>
        <p:grpSpPr>
          <a:xfrm>
            <a:off x="4868276" y="2311589"/>
            <a:ext cx="2166000" cy="2166000"/>
            <a:chOff x="2702876" y="2032864"/>
            <a:chExt cx="2166000" cy="2166000"/>
          </a:xfrm>
        </p:grpSpPr>
        <p:sp>
          <p:nvSpPr>
            <p:cNvPr id="490" name="Google Shape;490;p17"/>
            <p:cNvSpPr/>
            <p:nvPr/>
          </p:nvSpPr>
          <p:spPr>
            <a:xfrm>
              <a:off x="2702876" y="2032864"/>
              <a:ext cx="2166000" cy="2166000"/>
            </a:xfrm>
            <a:prstGeom prst="ellipse">
              <a:avLst/>
            </a:prstGeom>
            <a:solidFill>
              <a:srgbClr val="526A89"/>
            </a:solidFill>
            <a:ln cap="flat" cmpd="sng" w="9525">
              <a:solidFill>
                <a:srgbClr val="1919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7"/>
            <p:cNvSpPr txBox="1"/>
            <p:nvPr/>
          </p:nvSpPr>
          <p:spPr>
            <a:xfrm>
              <a:off x="3104850" y="2711025"/>
              <a:ext cx="1161900" cy="809700"/>
            </a:xfrm>
            <a:prstGeom prst="rect">
              <a:avLst/>
            </a:prstGeom>
            <a:solidFill>
              <a:srgbClr val="526A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Entregas rápidas y continuas</a:t>
              </a:r>
              <a:endParaRPr b="0" i="0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2" name="Google Shape;492;p17"/>
          <p:cNvSpPr/>
          <p:nvPr/>
        </p:nvSpPr>
        <p:spPr>
          <a:xfrm>
            <a:off x="6250080" y="2224966"/>
            <a:ext cx="1225800" cy="1225800"/>
          </a:xfrm>
          <a:prstGeom prst="ellipse">
            <a:avLst/>
          </a:prstGeom>
          <a:solidFill>
            <a:srgbClr val="202A4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7"/>
          <p:cNvSpPr txBox="1"/>
          <p:nvPr>
            <p:ph idx="2" type="subTitle"/>
          </p:nvPr>
        </p:nvSpPr>
        <p:spPr>
          <a:xfrm>
            <a:off x="1597450" y="2529438"/>
            <a:ext cx="33405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Metodología fácil de implementar y de mayor comodidad para el equipo de trabajo</a:t>
            </a:r>
            <a:endParaRPr/>
          </a:p>
        </p:txBody>
      </p:sp>
      <p:sp>
        <p:nvSpPr>
          <p:cNvPr id="494" name="Google Shape;494;p17"/>
          <p:cNvSpPr txBox="1"/>
          <p:nvPr>
            <p:ph idx="2" type="subTitle"/>
          </p:nvPr>
        </p:nvSpPr>
        <p:spPr>
          <a:xfrm>
            <a:off x="1597450" y="3450775"/>
            <a:ext cx="33405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Para la gestión de trabajo se utilizará la herramienta de Trello documentando las historias de usuario.</a:t>
            </a:r>
            <a:endParaRPr/>
          </a:p>
        </p:txBody>
      </p:sp>
      <p:pic>
        <p:nvPicPr>
          <p:cNvPr id="495" name="Google Shape;495;p17"/>
          <p:cNvPicPr preferRelativeResize="0"/>
          <p:nvPr/>
        </p:nvPicPr>
        <p:blipFill rotWithShape="1">
          <a:blip r:embed="rId4">
            <a:alphaModFix/>
          </a:blip>
          <a:srcRect b="14843" l="0" r="0" t="14837"/>
          <a:stretch/>
        </p:blipFill>
        <p:spPr>
          <a:xfrm>
            <a:off x="31734" y="2859070"/>
            <a:ext cx="1702865" cy="119746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7"/>
          <p:cNvSpPr/>
          <p:nvPr/>
        </p:nvSpPr>
        <p:spPr>
          <a:xfrm>
            <a:off x="196875" y="320518"/>
            <a:ext cx="708300" cy="708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7" name="Google Shape;497;p17"/>
          <p:cNvGrpSpPr/>
          <p:nvPr/>
        </p:nvGrpSpPr>
        <p:grpSpPr>
          <a:xfrm>
            <a:off x="302048" y="388428"/>
            <a:ext cx="527057" cy="525659"/>
            <a:chOff x="-30345325" y="3184750"/>
            <a:chExt cx="292225" cy="291450"/>
          </a:xfrm>
        </p:grpSpPr>
        <p:sp>
          <p:nvSpPr>
            <p:cNvPr id="498" name="Google Shape;498;p17"/>
            <p:cNvSpPr/>
            <p:nvPr/>
          </p:nvSpPr>
          <p:spPr>
            <a:xfrm>
              <a:off x="-30328000" y="3184750"/>
              <a:ext cx="258375" cy="120950"/>
            </a:xfrm>
            <a:custGeom>
              <a:rect b="b" l="l" r="r" t="t"/>
              <a:pathLst>
                <a:path extrusionOk="0" h="4838" w="10335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900" lIns="135900" spcFirstLastPara="1" rIns="135900" wrap="square" tIns="13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-30310675" y="332257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900" lIns="135900" spcFirstLastPara="1" rIns="135900" wrap="square" tIns="13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-30345325" y="3408425"/>
              <a:ext cx="137075" cy="67775"/>
            </a:xfrm>
            <a:custGeom>
              <a:rect b="b" l="l" r="r" t="t"/>
              <a:pathLst>
                <a:path extrusionOk="0" h="2711" w="5483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900" lIns="135900" spcFirstLastPara="1" rIns="135900" wrap="square" tIns="13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-30156300" y="332257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900" lIns="135900" spcFirstLastPara="1" rIns="135900" wrap="square" tIns="13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-30190950" y="3408425"/>
              <a:ext cx="137850" cy="67775"/>
            </a:xfrm>
            <a:custGeom>
              <a:rect b="b" l="l" r="r" t="t"/>
              <a:pathLst>
                <a:path extrusionOk="0" h="2711" w="5514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900" lIns="135900" spcFirstLastPara="1" rIns="135900" wrap="square" tIns="13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7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7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Tecnologías</a:t>
            </a:r>
            <a:endParaRPr/>
          </a:p>
        </p:txBody>
      </p:sp>
      <p:grpSp>
        <p:nvGrpSpPr>
          <p:cNvPr id="509" name="Google Shape;509;p7"/>
          <p:cNvGrpSpPr/>
          <p:nvPr/>
        </p:nvGrpSpPr>
        <p:grpSpPr>
          <a:xfrm>
            <a:off x="992220" y="1806809"/>
            <a:ext cx="2745088" cy="2597374"/>
            <a:chOff x="-1592325" y="3957400"/>
            <a:chExt cx="293025" cy="277275"/>
          </a:xfrm>
        </p:grpSpPr>
        <p:sp>
          <p:nvSpPr>
            <p:cNvPr id="510" name="Google Shape;510;p7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"/>
          <p:cNvSpPr txBox="1"/>
          <p:nvPr/>
        </p:nvSpPr>
        <p:spPr>
          <a:xfrm>
            <a:off x="551325" y="244400"/>
            <a:ext cx="27759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825" lIns="95675" spcFirstLastPara="1" rIns="95675" wrap="square" tIns="47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9"/>
              <a:buFont typeface="Arial"/>
              <a:buNone/>
            </a:pPr>
            <a:r>
              <a:rPr b="1" i="0" lang="en" sz="3139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Tecnologías</a:t>
            </a:r>
            <a:endParaRPr b="0" i="0" sz="4604" u="none" cap="none" strike="noStrike">
              <a:solidFill>
                <a:srgbClr val="41414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3075250" y="1559050"/>
            <a:ext cx="2378100" cy="287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7825" lIns="95675" spcFirstLastPara="1" rIns="95675" wrap="square" tIns="478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Trello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Django/Django Rest framework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5568275" y="1558900"/>
            <a:ext cx="3192600" cy="287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7825" lIns="95675" spcFirstLastPara="1" rIns="95675" wrap="square" tIns="47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Python + Pandas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Recharts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	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1" name="Google Shape;521;p8"/>
          <p:cNvPicPr preferRelativeResize="0"/>
          <p:nvPr/>
        </p:nvPicPr>
        <p:blipFill rotWithShape="1">
          <a:blip r:embed="rId3">
            <a:alphaModFix/>
          </a:blip>
          <a:srcRect b="6376" l="0" r="0" t="6377"/>
          <a:stretch/>
        </p:blipFill>
        <p:spPr>
          <a:xfrm>
            <a:off x="4374825" y="345287"/>
            <a:ext cx="2191200" cy="191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1050" y="2149722"/>
            <a:ext cx="481900" cy="48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925" y="2996025"/>
            <a:ext cx="368800" cy="3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800" y="3326100"/>
            <a:ext cx="508399" cy="50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03825" y="2527975"/>
            <a:ext cx="368800" cy="40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8"/>
          <p:cNvPicPr preferRelativeResize="0"/>
          <p:nvPr/>
        </p:nvPicPr>
        <p:blipFill rotWithShape="1">
          <a:blip r:embed="rId8">
            <a:alphaModFix/>
          </a:blip>
          <a:srcRect b="0" l="6030" r="-6028" t="0"/>
          <a:stretch/>
        </p:blipFill>
        <p:spPr>
          <a:xfrm>
            <a:off x="7778700" y="2527975"/>
            <a:ext cx="508399" cy="50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2625" y="2794450"/>
            <a:ext cx="508399" cy="50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8" title="imagen_2025-09-01_214211732.png"/>
          <p:cNvPicPr preferRelativeResize="0"/>
          <p:nvPr>
            <p:ph idx="2" type="pic"/>
          </p:nvPr>
        </p:nvPicPr>
        <p:blipFill rotWithShape="1">
          <a:blip r:embed="rId9">
            <a:alphaModFix/>
          </a:blip>
          <a:srcRect b="-1839" l="6118" r="40820" t="1840"/>
          <a:stretch/>
        </p:blipFill>
        <p:spPr>
          <a:xfrm>
            <a:off x="551325" y="1803402"/>
            <a:ext cx="2474700" cy="2629800"/>
          </a:xfrm>
          <a:prstGeom prst="round2Diag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pic>
      <p:sp>
        <p:nvSpPr>
          <p:cNvPr id="529" name="Google Shape;529;p8"/>
          <p:cNvSpPr/>
          <p:nvPr/>
        </p:nvSpPr>
        <p:spPr>
          <a:xfrm>
            <a:off x="42825" y="1111123"/>
            <a:ext cx="508500" cy="5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5625" lIns="65625" spcFirstLastPara="1" rIns="65625" wrap="square" tIns="65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4"/>
              <a:buFont typeface="Arial"/>
              <a:buNone/>
            </a:pPr>
            <a:r>
              <a:t/>
            </a:r>
            <a:endParaRPr b="0" i="0" sz="100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0" name="Google Shape;530;p8"/>
          <p:cNvGrpSpPr/>
          <p:nvPr/>
        </p:nvGrpSpPr>
        <p:grpSpPr>
          <a:xfrm>
            <a:off x="188843" y="1237921"/>
            <a:ext cx="216341" cy="246065"/>
            <a:chOff x="3170695" y="2687294"/>
            <a:chExt cx="331151" cy="376649"/>
          </a:xfrm>
        </p:grpSpPr>
        <p:sp>
          <p:nvSpPr>
            <p:cNvPr id="531" name="Google Shape;531;p8"/>
            <p:cNvSpPr/>
            <p:nvPr/>
          </p:nvSpPr>
          <p:spPr>
            <a:xfrm>
              <a:off x="3170695" y="2853462"/>
              <a:ext cx="331151" cy="55248"/>
            </a:xfrm>
            <a:custGeom>
              <a:rect b="b" l="l" r="r" t="t"/>
              <a:pathLst>
                <a:path extrusionOk="0" h="1955" w="11718">
                  <a:moveTo>
                    <a:pt x="388" y="1"/>
                  </a:moveTo>
                  <a:cubicBezTo>
                    <a:pt x="174" y="1"/>
                    <a:pt x="0" y="175"/>
                    <a:pt x="0" y="392"/>
                  </a:cubicBezTo>
                  <a:lnTo>
                    <a:pt x="0" y="781"/>
                  </a:lnTo>
                  <a:cubicBezTo>
                    <a:pt x="0" y="956"/>
                    <a:pt x="115" y="1109"/>
                    <a:pt x="283" y="1157"/>
                  </a:cubicBezTo>
                  <a:cubicBezTo>
                    <a:pt x="397" y="1191"/>
                    <a:pt x="3101" y="1955"/>
                    <a:pt x="5859" y="1955"/>
                  </a:cubicBezTo>
                  <a:cubicBezTo>
                    <a:pt x="8616" y="1955"/>
                    <a:pt x="11321" y="1191"/>
                    <a:pt x="11435" y="1157"/>
                  </a:cubicBezTo>
                  <a:cubicBezTo>
                    <a:pt x="11602" y="1109"/>
                    <a:pt x="11717" y="956"/>
                    <a:pt x="11717" y="781"/>
                  </a:cubicBezTo>
                  <a:lnTo>
                    <a:pt x="11717" y="392"/>
                  </a:lnTo>
                  <a:cubicBezTo>
                    <a:pt x="11717" y="176"/>
                    <a:pt x="11542" y="1"/>
                    <a:pt x="11327" y="1"/>
                  </a:cubicBezTo>
                  <a:lnTo>
                    <a:pt x="391" y="1"/>
                  </a:lnTo>
                  <a:cubicBezTo>
                    <a:pt x="390" y="1"/>
                    <a:pt x="38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5625" lIns="65625" spcFirstLastPara="1" rIns="65625" wrap="square" tIns="6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3192738" y="2912469"/>
              <a:ext cx="287009" cy="151474"/>
            </a:xfrm>
            <a:custGeom>
              <a:rect b="b" l="l" r="r" t="t"/>
              <a:pathLst>
                <a:path extrusionOk="0" h="5360" w="10156">
                  <a:moveTo>
                    <a:pt x="0" y="1"/>
                  </a:moveTo>
                  <a:lnTo>
                    <a:pt x="0" y="1036"/>
                  </a:lnTo>
                  <a:cubicBezTo>
                    <a:pt x="0" y="1252"/>
                    <a:pt x="175" y="1427"/>
                    <a:pt x="391" y="1427"/>
                  </a:cubicBezTo>
                  <a:lnTo>
                    <a:pt x="945" y="1427"/>
                  </a:lnTo>
                  <a:cubicBezTo>
                    <a:pt x="1035" y="1746"/>
                    <a:pt x="1164" y="2054"/>
                    <a:pt x="1330" y="2347"/>
                  </a:cubicBezTo>
                  <a:lnTo>
                    <a:pt x="936" y="2741"/>
                  </a:lnTo>
                  <a:cubicBezTo>
                    <a:pt x="783" y="2894"/>
                    <a:pt x="783" y="3142"/>
                    <a:pt x="936" y="3293"/>
                  </a:cubicBezTo>
                  <a:lnTo>
                    <a:pt x="2040" y="4398"/>
                  </a:lnTo>
                  <a:cubicBezTo>
                    <a:pt x="2117" y="4474"/>
                    <a:pt x="2216" y="4512"/>
                    <a:pt x="2316" y="4512"/>
                  </a:cubicBezTo>
                  <a:cubicBezTo>
                    <a:pt x="2416" y="4512"/>
                    <a:pt x="2516" y="4474"/>
                    <a:pt x="2593" y="4398"/>
                  </a:cubicBezTo>
                  <a:lnTo>
                    <a:pt x="2986" y="4003"/>
                  </a:lnTo>
                  <a:cubicBezTo>
                    <a:pt x="3279" y="4169"/>
                    <a:pt x="3587" y="4298"/>
                    <a:pt x="3906" y="4388"/>
                  </a:cubicBezTo>
                  <a:lnTo>
                    <a:pt x="3906" y="4969"/>
                  </a:lnTo>
                  <a:cubicBezTo>
                    <a:pt x="3906" y="5184"/>
                    <a:pt x="4081" y="5359"/>
                    <a:pt x="4297" y="5359"/>
                  </a:cubicBezTo>
                  <a:lnTo>
                    <a:pt x="5859" y="5359"/>
                  </a:lnTo>
                  <a:cubicBezTo>
                    <a:pt x="6075" y="5359"/>
                    <a:pt x="6250" y="5184"/>
                    <a:pt x="6250" y="4969"/>
                  </a:cubicBezTo>
                  <a:lnTo>
                    <a:pt x="6250" y="4388"/>
                  </a:lnTo>
                  <a:cubicBezTo>
                    <a:pt x="6569" y="4298"/>
                    <a:pt x="6877" y="4169"/>
                    <a:pt x="7170" y="4003"/>
                  </a:cubicBezTo>
                  <a:lnTo>
                    <a:pt x="7563" y="4398"/>
                  </a:lnTo>
                  <a:cubicBezTo>
                    <a:pt x="7640" y="4474"/>
                    <a:pt x="7740" y="4512"/>
                    <a:pt x="7840" y="4512"/>
                  </a:cubicBezTo>
                  <a:cubicBezTo>
                    <a:pt x="7940" y="4512"/>
                    <a:pt x="8040" y="4474"/>
                    <a:pt x="8116" y="4398"/>
                  </a:cubicBezTo>
                  <a:lnTo>
                    <a:pt x="9221" y="3293"/>
                  </a:lnTo>
                  <a:cubicBezTo>
                    <a:pt x="9373" y="3142"/>
                    <a:pt x="9373" y="2894"/>
                    <a:pt x="9221" y="2741"/>
                  </a:cubicBezTo>
                  <a:lnTo>
                    <a:pt x="8826" y="2347"/>
                  </a:lnTo>
                  <a:cubicBezTo>
                    <a:pt x="8992" y="2054"/>
                    <a:pt x="9121" y="1746"/>
                    <a:pt x="9211" y="1427"/>
                  </a:cubicBezTo>
                  <a:lnTo>
                    <a:pt x="9765" y="1427"/>
                  </a:lnTo>
                  <a:cubicBezTo>
                    <a:pt x="9981" y="1427"/>
                    <a:pt x="10156" y="1252"/>
                    <a:pt x="10156" y="1036"/>
                  </a:cubicBezTo>
                  <a:lnTo>
                    <a:pt x="10156" y="1"/>
                  </a:lnTo>
                  <a:cubicBezTo>
                    <a:pt x="9602" y="131"/>
                    <a:pt x="8766" y="307"/>
                    <a:pt x="7794" y="443"/>
                  </a:cubicBezTo>
                  <a:cubicBezTo>
                    <a:pt x="7696" y="1861"/>
                    <a:pt x="6522" y="2990"/>
                    <a:pt x="5079" y="2990"/>
                  </a:cubicBezTo>
                  <a:cubicBezTo>
                    <a:pt x="3635" y="2990"/>
                    <a:pt x="2461" y="1861"/>
                    <a:pt x="2364" y="443"/>
                  </a:cubicBezTo>
                  <a:cubicBezTo>
                    <a:pt x="1390" y="307"/>
                    <a:pt x="556" y="13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5625" lIns="65625" spcFirstLastPara="1" rIns="65625" wrap="square" tIns="6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3194914" y="2687294"/>
              <a:ext cx="282939" cy="144126"/>
            </a:xfrm>
            <a:custGeom>
              <a:rect b="b" l="l" r="r" t="t"/>
              <a:pathLst>
                <a:path extrusionOk="0" h="5100" w="10012">
                  <a:moveTo>
                    <a:pt x="5006" y="1"/>
                  </a:moveTo>
                  <a:cubicBezTo>
                    <a:pt x="4490" y="1"/>
                    <a:pt x="3974" y="69"/>
                    <a:pt x="3472" y="204"/>
                  </a:cubicBezTo>
                  <a:cubicBezTo>
                    <a:pt x="3245" y="267"/>
                    <a:pt x="3132" y="530"/>
                    <a:pt x="3230" y="745"/>
                  </a:cubicBezTo>
                  <a:lnTo>
                    <a:pt x="4580" y="3765"/>
                  </a:lnTo>
                  <a:cubicBezTo>
                    <a:pt x="4669" y="3962"/>
                    <a:pt x="4582" y="4194"/>
                    <a:pt x="4385" y="4283"/>
                  </a:cubicBezTo>
                  <a:cubicBezTo>
                    <a:pt x="4333" y="4306"/>
                    <a:pt x="4279" y="4317"/>
                    <a:pt x="4225" y="4317"/>
                  </a:cubicBezTo>
                  <a:cubicBezTo>
                    <a:pt x="4076" y="4317"/>
                    <a:pt x="3933" y="4231"/>
                    <a:pt x="3869" y="4087"/>
                  </a:cubicBezTo>
                  <a:lnTo>
                    <a:pt x="2648" y="1356"/>
                  </a:lnTo>
                  <a:cubicBezTo>
                    <a:pt x="1253" y="2090"/>
                    <a:pt x="251" y="3482"/>
                    <a:pt x="0" y="5099"/>
                  </a:cubicBezTo>
                  <a:lnTo>
                    <a:pt x="10012" y="5099"/>
                  </a:lnTo>
                  <a:cubicBezTo>
                    <a:pt x="9761" y="3482"/>
                    <a:pt x="8759" y="2090"/>
                    <a:pt x="7364" y="1356"/>
                  </a:cubicBezTo>
                  <a:lnTo>
                    <a:pt x="6143" y="4087"/>
                  </a:lnTo>
                  <a:cubicBezTo>
                    <a:pt x="6079" y="4232"/>
                    <a:pt x="5937" y="4317"/>
                    <a:pt x="5788" y="4317"/>
                  </a:cubicBezTo>
                  <a:cubicBezTo>
                    <a:pt x="5734" y="4317"/>
                    <a:pt x="5680" y="4306"/>
                    <a:pt x="5627" y="4283"/>
                  </a:cubicBezTo>
                  <a:cubicBezTo>
                    <a:pt x="5430" y="4194"/>
                    <a:pt x="5343" y="3962"/>
                    <a:pt x="5432" y="3765"/>
                  </a:cubicBezTo>
                  <a:lnTo>
                    <a:pt x="6782" y="745"/>
                  </a:lnTo>
                  <a:cubicBezTo>
                    <a:pt x="6880" y="530"/>
                    <a:pt x="6768" y="267"/>
                    <a:pt x="6540" y="204"/>
                  </a:cubicBezTo>
                  <a:cubicBezTo>
                    <a:pt x="6038" y="69"/>
                    <a:pt x="5522" y="1"/>
                    <a:pt x="5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65625" lIns="65625" spcFirstLastPara="1" rIns="65625" wrap="square" tIns="65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4" name="Google Shape;534;p8"/>
          <p:cNvPicPr preferRelativeResize="0"/>
          <p:nvPr/>
        </p:nvPicPr>
        <p:blipFill rotWithShape="1">
          <a:blip r:embed="rId10">
            <a:alphaModFix/>
          </a:blip>
          <a:srcRect b="0" l="0" r="56905" t="0"/>
          <a:stretch/>
        </p:blipFill>
        <p:spPr>
          <a:xfrm>
            <a:off x="6799875" y="3302862"/>
            <a:ext cx="729390" cy="4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8" title="sqlite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06950" y="2097850"/>
            <a:ext cx="481900" cy="4819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a8261a60b0_0_93"/>
          <p:cNvPicPr preferRelativeResize="0"/>
          <p:nvPr/>
        </p:nvPicPr>
        <p:blipFill rotWithShape="1">
          <a:blip r:embed="rId3">
            <a:alphaModFix/>
          </a:blip>
          <a:srcRect b="129" l="0" r="0" t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a8261a60b0_0_93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Arquitectura y Requerimientos</a:t>
            </a:r>
            <a:endParaRPr/>
          </a:p>
        </p:txBody>
      </p:sp>
      <p:grpSp>
        <p:nvGrpSpPr>
          <p:cNvPr id="542" name="Google Shape;542;g3a8261a60b0_0_93"/>
          <p:cNvGrpSpPr/>
          <p:nvPr/>
        </p:nvGrpSpPr>
        <p:grpSpPr>
          <a:xfrm>
            <a:off x="721873" y="1806815"/>
            <a:ext cx="2745088" cy="2597374"/>
            <a:chOff x="-1592325" y="3957400"/>
            <a:chExt cx="293025" cy="277275"/>
          </a:xfrm>
        </p:grpSpPr>
        <p:sp>
          <p:nvSpPr>
            <p:cNvPr id="543" name="Google Shape;543;g3a8261a60b0_0_93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a8261a60b0_0_93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a8261a60b0_0_93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a8261a60b0_0_93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8261a60b0_0_103"/>
          <p:cNvSpPr/>
          <p:nvPr/>
        </p:nvSpPr>
        <p:spPr>
          <a:xfrm>
            <a:off x="273300" y="2208766"/>
            <a:ext cx="1604400" cy="160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275" lIns="162275" spcFirstLastPara="1" rIns="162275" wrap="square" tIns="162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5"/>
              <a:buFont typeface="Arial"/>
              <a:buNone/>
            </a:pPr>
            <a:r>
              <a:t/>
            </a:r>
            <a:endParaRPr b="0" i="0" sz="2485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g3a8261a60b0_0_10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 Específicos</a:t>
            </a:r>
            <a:endParaRPr/>
          </a:p>
        </p:txBody>
      </p:sp>
      <p:sp>
        <p:nvSpPr>
          <p:cNvPr id="553" name="Google Shape;553;g3a8261a60b0_0_103"/>
          <p:cNvSpPr txBox="1"/>
          <p:nvPr>
            <p:ph idx="2" type="subTitle"/>
          </p:nvPr>
        </p:nvSpPr>
        <p:spPr>
          <a:xfrm>
            <a:off x="2112250" y="1280413"/>
            <a:ext cx="67887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Monitorear en tiempo real la ocupación de los box de atención médica.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300"/>
              <a:t>Visualizar el estado de avance de cada paciente mediante una barra de progreso (Co</a:t>
            </a:r>
            <a:endParaRPr sz="1300"/>
          </a:p>
        </p:txBody>
      </p:sp>
      <p:grpSp>
        <p:nvGrpSpPr>
          <p:cNvPr id="554" name="Google Shape;554;g3a8261a60b0_0_103"/>
          <p:cNvGrpSpPr/>
          <p:nvPr/>
        </p:nvGrpSpPr>
        <p:grpSpPr>
          <a:xfrm>
            <a:off x="701912" y="2637403"/>
            <a:ext cx="747082" cy="747138"/>
            <a:chOff x="4792819" y="2090612"/>
            <a:chExt cx="376762" cy="376791"/>
          </a:xfrm>
        </p:grpSpPr>
        <p:sp>
          <p:nvSpPr>
            <p:cNvPr id="555" name="Google Shape;555;g3a8261a60b0_0_103"/>
            <p:cNvSpPr/>
            <p:nvPr/>
          </p:nvSpPr>
          <p:spPr>
            <a:xfrm>
              <a:off x="4992193" y="2179659"/>
              <a:ext cx="66298" cy="66270"/>
            </a:xfrm>
            <a:custGeom>
              <a:rect b="b" l="l" r="r" t="t"/>
              <a:pathLst>
                <a:path extrusionOk="0" h="2345" w="2346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a8261a60b0_0_103"/>
            <p:cNvSpPr/>
            <p:nvPr/>
          </p:nvSpPr>
          <p:spPr>
            <a:xfrm>
              <a:off x="4859767" y="2378327"/>
              <a:ext cx="22099" cy="22099"/>
            </a:xfrm>
            <a:custGeom>
              <a:rect b="b" l="l" r="r" t="t"/>
              <a:pathLst>
                <a:path extrusionOk="0" h="782" w="782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a8261a60b0_0_103"/>
            <p:cNvSpPr/>
            <p:nvPr/>
          </p:nvSpPr>
          <p:spPr>
            <a:xfrm>
              <a:off x="4792819" y="2090612"/>
              <a:ext cx="376762" cy="376791"/>
            </a:xfrm>
            <a:custGeom>
              <a:rect b="b" l="l" r="r" t="t"/>
              <a:pathLst>
                <a:path extrusionOk="0" h="13333" w="13332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g3a8261a60b0_0_113"/>
          <p:cNvPicPr preferRelativeResize="0"/>
          <p:nvPr/>
        </p:nvPicPr>
        <p:blipFill rotWithShape="1">
          <a:blip r:embed="rId3">
            <a:alphaModFix/>
          </a:blip>
          <a:srcRect b="129" l="0" r="0" t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a8261a60b0_0_113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Desarrollo del proyecto</a:t>
            </a:r>
            <a:endParaRPr/>
          </a:p>
        </p:txBody>
      </p:sp>
      <p:grpSp>
        <p:nvGrpSpPr>
          <p:cNvPr id="564" name="Google Shape;564;g3a8261a60b0_0_113"/>
          <p:cNvGrpSpPr/>
          <p:nvPr/>
        </p:nvGrpSpPr>
        <p:grpSpPr>
          <a:xfrm>
            <a:off x="721873" y="1806815"/>
            <a:ext cx="2745088" cy="2597374"/>
            <a:chOff x="-1592325" y="3957400"/>
            <a:chExt cx="293025" cy="277275"/>
          </a:xfrm>
        </p:grpSpPr>
        <p:sp>
          <p:nvSpPr>
            <p:cNvPr id="565" name="Google Shape;565;g3a8261a60b0_0_113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a8261a60b0_0_113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a8261a60b0_0_113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a8261a60b0_0_113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261a60b0_0_123"/>
          <p:cNvSpPr/>
          <p:nvPr/>
        </p:nvSpPr>
        <p:spPr>
          <a:xfrm>
            <a:off x="273300" y="2208766"/>
            <a:ext cx="1604400" cy="160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275" lIns="162275" spcFirstLastPara="1" rIns="162275" wrap="square" tIns="162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5"/>
              <a:buFont typeface="Arial"/>
              <a:buNone/>
            </a:pPr>
            <a:r>
              <a:t/>
            </a:r>
            <a:endParaRPr b="0" i="0" sz="2485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g3a8261a60b0_0_1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 Específicos</a:t>
            </a:r>
            <a:endParaRPr/>
          </a:p>
        </p:txBody>
      </p:sp>
      <p:sp>
        <p:nvSpPr>
          <p:cNvPr id="575" name="Google Shape;575;g3a8261a60b0_0_123"/>
          <p:cNvSpPr txBox="1"/>
          <p:nvPr>
            <p:ph idx="2" type="subTitle"/>
          </p:nvPr>
        </p:nvSpPr>
        <p:spPr>
          <a:xfrm>
            <a:off x="2112250" y="1280413"/>
            <a:ext cx="67887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Monitorear en tiempo real la ocupación de los box de atención médica.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300"/>
              <a:t>Visualizar el estado de avance de cada paciente mediante una barra de progreso (Co</a:t>
            </a:r>
            <a:endParaRPr sz="1300"/>
          </a:p>
        </p:txBody>
      </p:sp>
      <p:grpSp>
        <p:nvGrpSpPr>
          <p:cNvPr id="576" name="Google Shape;576;g3a8261a60b0_0_123"/>
          <p:cNvGrpSpPr/>
          <p:nvPr/>
        </p:nvGrpSpPr>
        <p:grpSpPr>
          <a:xfrm>
            <a:off x="701912" y="2637403"/>
            <a:ext cx="747082" cy="747138"/>
            <a:chOff x="4792819" y="2090612"/>
            <a:chExt cx="376762" cy="376791"/>
          </a:xfrm>
        </p:grpSpPr>
        <p:sp>
          <p:nvSpPr>
            <p:cNvPr id="577" name="Google Shape;577;g3a8261a60b0_0_123"/>
            <p:cNvSpPr/>
            <p:nvPr/>
          </p:nvSpPr>
          <p:spPr>
            <a:xfrm>
              <a:off x="4992193" y="2179659"/>
              <a:ext cx="66298" cy="66270"/>
            </a:xfrm>
            <a:custGeom>
              <a:rect b="b" l="l" r="r" t="t"/>
              <a:pathLst>
                <a:path extrusionOk="0" h="2345" w="2346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a8261a60b0_0_123"/>
            <p:cNvSpPr/>
            <p:nvPr/>
          </p:nvSpPr>
          <p:spPr>
            <a:xfrm>
              <a:off x="4859767" y="2378327"/>
              <a:ext cx="22099" cy="22099"/>
            </a:xfrm>
            <a:custGeom>
              <a:rect b="b" l="l" r="r" t="t"/>
              <a:pathLst>
                <a:path extrusionOk="0" h="782" w="782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a8261a60b0_0_123"/>
            <p:cNvSpPr/>
            <p:nvPr/>
          </p:nvSpPr>
          <p:spPr>
            <a:xfrm>
              <a:off x="4792819" y="2090612"/>
              <a:ext cx="376762" cy="376791"/>
            </a:xfrm>
            <a:custGeom>
              <a:rect b="b" l="l" r="r" t="t"/>
              <a:pathLst>
                <a:path extrusionOk="0" h="13333" w="13332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g3a8261a60b0_0_133"/>
          <p:cNvPicPr preferRelativeResize="0"/>
          <p:nvPr/>
        </p:nvPicPr>
        <p:blipFill rotWithShape="1">
          <a:blip r:embed="rId3">
            <a:alphaModFix/>
          </a:blip>
          <a:srcRect b="129" l="0" r="0" t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a8261a60b0_0_133"/>
          <p:cNvSpPr txBox="1"/>
          <p:nvPr>
            <p:ph type="title"/>
          </p:nvPr>
        </p:nvSpPr>
        <p:spPr>
          <a:xfrm>
            <a:off x="4080975" y="2240675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Dificultades, Facilitadores y </a:t>
            </a:r>
            <a:r>
              <a:rPr lang="en"/>
              <a:t>Arreglos</a:t>
            </a:r>
            <a:endParaRPr/>
          </a:p>
        </p:txBody>
      </p:sp>
      <p:grpSp>
        <p:nvGrpSpPr>
          <p:cNvPr id="586" name="Google Shape;586;g3a8261a60b0_0_133"/>
          <p:cNvGrpSpPr/>
          <p:nvPr/>
        </p:nvGrpSpPr>
        <p:grpSpPr>
          <a:xfrm>
            <a:off x="721873" y="1806815"/>
            <a:ext cx="2745088" cy="2597374"/>
            <a:chOff x="-1592325" y="3957400"/>
            <a:chExt cx="293025" cy="277275"/>
          </a:xfrm>
        </p:grpSpPr>
        <p:sp>
          <p:nvSpPr>
            <p:cNvPr id="587" name="Google Shape;587;g3a8261a60b0_0_133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3a8261a60b0_0_133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3a8261a60b0_0_133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3a8261a60b0_0_133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94800" lIns="594800" spcFirstLastPara="1" rIns="594800" wrap="square" tIns="59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8261a60b0_0_143"/>
          <p:cNvSpPr/>
          <p:nvPr/>
        </p:nvSpPr>
        <p:spPr>
          <a:xfrm>
            <a:off x="273300" y="2208766"/>
            <a:ext cx="1604400" cy="160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275" lIns="162275" spcFirstLastPara="1" rIns="162275" wrap="square" tIns="162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5"/>
              <a:buFont typeface="Arial"/>
              <a:buNone/>
            </a:pPr>
            <a:r>
              <a:t/>
            </a:r>
            <a:endParaRPr b="0" i="0" sz="2485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a8261a60b0_0_14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Objetivo Específicos</a:t>
            </a:r>
            <a:endParaRPr/>
          </a:p>
        </p:txBody>
      </p:sp>
      <p:sp>
        <p:nvSpPr>
          <p:cNvPr id="597" name="Google Shape;597;g3a8261a60b0_0_143"/>
          <p:cNvSpPr txBox="1"/>
          <p:nvPr>
            <p:ph idx="2" type="subTitle"/>
          </p:nvPr>
        </p:nvSpPr>
        <p:spPr>
          <a:xfrm>
            <a:off x="2112250" y="1280413"/>
            <a:ext cx="67887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Monitorear en tiempo real la ocupación de los box de atención médica.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300"/>
              <a:t>Visualizar el estado de avance de cada paciente mediante una barra de progreso (Co</a:t>
            </a:r>
            <a:endParaRPr sz="1300"/>
          </a:p>
        </p:txBody>
      </p:sp>
      <p:grpSp>
        <p:nvGrpSpPr>
          <p:cNvPr id="598" name="Google Shape;598;g3a8261a60b0_0_143"/>
          <p:cNvGrpSpPr/>
          <p:nvPr/>
        </p:nvGrpSpPr>
        <p:grpSpPr>
          <a:xfrm>
            <a:off x="701912" y="2637403"/>
            <a:ext cx="747082" cy="747138"/>
            <a:chOff x="4792819" y="2090612"/>
            <a:chExt cx="376762" cy="376791"/>
          </a:xfrm>
        </p:grpSpPr>
        <p:sp>
          <p:nvSpPr>
            <p:cNvPr id="599" name="Google Shape;599;g3a8261a60b0_0_143"/>
            <p:cNvSpPr/>
            <p:nvPr/>
          </p:nvSpPr>
          <p:spPr>
            <a:xfrm>
              <a:off x="4992193" y="2179659"/>
              <a:ext cx="66298" cy="66270"/>
            </a:xfrm>
            <a:custGeom>
              <a:rect b="b" l="l" r="r" t="t"/>
              <a:pathLst>
                <a:path extrusionOk="0" h="2345" w="2346">
                  <a:moveTo>
                    <a:pt x="1173" y="781"/>
                  </a:moveTo>
                  <a:cubicBezTo>
                    <a:pt x="1389" y="781"/>
                    <a:pt x="1564" y="956"/>
                    <a:pt x="1564" y="1172"/>
                  </a:cubicBezTo>
                  <a:cubicBezTo>
                    <a:pt x="1564" y="1388"/>
                    <a:pt x="1389" y="1563"/>
                    <a:pt x="1173" y="1563"/>
                  </a:cubicBezTo>
                  <a:cubicBezTo>
                    <a:pt x="957" y="1563"/>
                    <a:pt x="782" y="1388"/>
                    <a:pt x="782" y="1172"/>
                  </a:cubicBezTo>
                  <a:cubicBezTo>
                    <a:pt x="782" y="956"/>
                    <a:pt x="957" y="781"/>
                    <a:pt x="1173" y="781"/>
                  </a:cubicBezTo>
                  <a:close/>
                  <a:moveTo>
                    <a:pt x="1173" y="1"/>
                  </a:moveTo>
                  <a:cubicBezTo>
                    <a:pt x="527" y="1"/>
                    <a:pt x="1" y="526"/>
                    <a:pt x="1" y="1172"/>
                  </a:cubicBezTo>
                  <a:cubicBezTo>
                    <a:pt x="1" y="1818"/>
                    <a:pt x="527" y="2344"/>
                    <a:pt x="1173" y="2344"/>
                  </a:cubicBezTo>
                  <a:cubicBezTo>
                    <a:pt x="1819" y="2344"/>
                    <a:pt x="2345" y="1818"/>
                    <a:pt x="2345" y="1172"/>
                  </a:cubicBezTo>
                  <a:cubicBezTo>
                    <a:pt x="2345" y="526"/>
                    <a:pt x="181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a8261a60b0_0_143"/>
            <p:cNvSpPr/>
            <p:nvPr/>
          </p:nvSpPr>
          <p:spPr>
            <a:xfrm>
              <a:off x="4859767" y="2378327"/>
              <a:ext cx="22099" cy="22099"/>
            </a:xfrm>
            <a:custGeom>
              <a:rect b="b" l="l" r="r" t="t"/>
              <a:pathLst>
                <a:path extrusionOk="0" h="782" w="782">
                  <a:moveTo>
                    <a:pt x="391" y="0"/>
                  </a:moveTo>
                  <a:cubicBezTo>
                    <a:pt x="175" y="0"/>
                    <a:pt x="0" y="175"/>
                    <a:pt x="0" y="391"/>
                  </a:cubicBezTo>
                  <a:cubicBezTo>
                    <a:pt x="0" y="607"/>
                    <a:pt x="175" y="782"/>
                    <a:pt x="391" y="782"/>
                  </a:cubicBezTo>
                  <a:cubicBezTo>
                    <a:pt x="607" y="782"/>
                    <a:pt x="782" y="607"/>
                    <a:pt x="782" y="391"/>
                  </a:cubicBezTo>
                  <a:cubicBezTo>
                    <a:pt x="782" y="175"/>
                    <a:pt x="607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3a8261a60b0_0_143"/>
            <p:cNvSpPr/>
            <p:nvPr/>
          </p:nvSpPr>
          <p:spPr>
            <a:xfrm>
              <a:off x="4792819" y="2090612"/>
              <a:ext cx="376762" cy="376791"/>
            </a:xfrm>
            <a:custGeom>
              <a:rect b="b" l="l" r="r" t="t"/>
              <a:pathLst>
                <a:path extrusionOk="0" h="13333" w="13332">
                  <a:moveTo>
                    <a:pt x="8229" y="1589"/>
                  </a:moveTo>
                  <a:cubicBezTo>
                    <a:pt x="8444" y="1589"/>
                    <a:pt x="8619" y="1764"/>
                    <a:pt x="8619" y="1980"/>
                  </a:cubicBezTo>
                  <a:lnTo>
                    <a:pt x="8619" y="2410"/>
                  </a:lnTo>
                  <a:cubicBezTo>
                    <a:pt x="8867" y="2461"/>
                    <a:pt x="9099" y="2560"/>
                    <a:pt x="9303" y="2696"/>
                  </a:cubicBezTo>
                  <a:lnTo>
                    <a:pt x="9602" y="2398"/>
                  </a:lnTo>
                  <a:cubicBezTo>
                    <a:pt x="9680" y="2319"/>
                    <a:pt x="9785" y="2277"/>
                    <a:pt x="9890" y="2277"/>
                  </a:cubicBezTo>
                  <a:cubicBezTo>
                    <a:pt x="9974" y="2277"/>
                    <a:pt x="10058" y="2304"/>
                    <a:pt x="10128" y="2360"/>
                  </a:cubicBezTo>
                  <a:cubicBezTo>
                    <a:pt x="10313" y="2509"/>
                    <a:pt x="10323" y="2780"/>
                    <a:pt x="10162" y="2942"/>
                  </a:cubicBezTo>
                  <a:lnTo>
                    <a:pt x="9855" y="3248"/>
                  </a:lnTo>
                  <a:cubicBezTo>
                    <a:pt x="9991" y="3452"/>
                    <a:pt x="10090" y="3684"/>
                    <a:pt x="10141" y="3932"/>
                  </a:cubicBezTo>
                  <a:lnTo>
                    <a:pt x="10561" y="3932"/>
                  </a:lnTo>
                  <a:cubicBezTo>
                    <a:pt x="10762" y="3932"/>
                    <a:pt x="10939" y="4079"/>
                    <a:pt x="10959" y="4279"/>
                  </a:cubicBezTo>
                  <a:cubicBezTo>
                    <a:pt x="10985" y="4515"/>
                    <a:pt x="10802" y="4714"/>
                    <a:pt x="10571" y="4714"/>
                  </a:cubicBezTo>
                  <a:lnTo>
                    <a:pt x="10141" y="4714"/>
                  </a:lnTo>
                  <a:cubicBezTo>
                    <a:pt x="10090" y="4963"/>
                    <a:pt x="9991" y="5193"/>
                    <a:pt x="9855" y="5399"/>
                  </a:cubicBezTo>
                  <a:lnTo>
                    <a:pt x="10154" y="5696"/>
                  </a:lnTo>
                  <a:cubicBezTo>
                    <a:pt x="10296" y="5839"/>
                    <a:pt x="10316" y="6067"/>
                    <a:pt x="10191" y="6223"/>
                  </a:cubicBezTo>
                  <a:cubicBezTo>
                    <a:pt x="10112" y="6321"/>
                    <a:pt x="9998" y="6371"/>
                    <a:pt x="9885" y="6371"/>
                  </a:cubicBezTo>
                  <a:cubicBezTo>
                    <a:pt x="9785" y="6371"/>
                    <a:pt x="9685" y="6333"/>
                    <a:pt x="9609" y="6256"/>
                  </a:cubicBezTo>
                  <a:lnTo>
                    <a:pt x="9304" y="5951"/>
                  </a:lnTo>
                  <a:cubicBezTo>
                    <a:pt x="9099" y="6087"/>
                    <a:pt x="8868" y="6186"/>
                    <a:pt x="8619" y="6237"/>
                  </a:cubicBezTo>
                  <a:lnTo>
                    <a:pt x="8619" y="6657"/>
                  </a:lnTo>
                  <a:cubicBezTo>
                    <a:pt x="8619" y="6857"/>
                    <a:pt x="8472" y="7033"/>
                    <a:pt x="8272" y="7055"/>
                  </a:cubicBezTo>
                  <a:cubicBezTo>
                    <a:pt x="8258" y="7057"/>
                    <a:pt x="8243" y="7057"/>
                    <a:pt x="8229" y="7057"/>
                  </a:cubicBezTo>
                  <a:cubicBezTo>
                    <a:pt x="8014" y="7057"/>
                    <a:pt x="7837" y="6882"/>
                    <a:pt x="7837" y="6666"/>
                  </a:cubicBezTo>
                  <a:lnTo>
                    <a:pt x="7837" y="6236"/>
                  </a:lnTo>
                  <a:cubicBezTo>
                    <a:pt x="7588" y="6186"/>
                    <a:pt x="7358" y="6087"/>
                    <a:pt x="7153" y="5950"/>
                  </a:cubicBezTo>
                  <a:cubicBezTo>
                    <a:pt x="7093" y="5980"/>
                    <a:pt x="6842" y="6377"/>
                    <a:pt x="6553" y="6377"/>
                  </a:cubicBezTo>
                  <a:cubicBezTo>
                    <a:pt x="6466" y="6377"/>
                    <a:pt x="6376" y="6341"/>
                    <a:pt x="6286" y="6247"/>
                  </a:cubicBezTo>
                  <a:cubicBezTo>
                    <a:pt x="6142" y="6097"/>
                    <a:pt x="6150" y="5848"/>
                    <a:pt x="6298" y="5701"/>
                  </a:cubicBezTo>
                  <a:lnTo>
                    <a:pt x="6601" y="5399"/>
                  </a:lnTo>
                  <a:cubicBezTo>
                    <a:pt x="6465" y="5193"/>
                    <a:pt x="6365" y="4963"/>
                    <a:pt x="6315" y="4714"/>
                  </a:cubicBezTo>
                  <a:lnTo>
                    <a:pt x="5895" y="4714"/>
                  </a:lnTo>
                  <a:cubicBezTo>
                    <a:pt x="5694" y="4714"/>
                    <a:pt x="5517" y="4566"/>
                    <a:pt x="5497" y="4367"/>
                  </a:cubicBezTo>
                  <a:cubicBezTo>
                    <a:pt x="5471" y="4132"/>
                    <a:pt x="5655" y="3933"/>
                    <a:pt x="5885" y="3933"/>
                  </a:cubicBezTo>
                  <a:lnTo>
                    <a:pt x="6315" y="3933"/>
                  </a:lnTo>
                  <a:cubicBezTo>
                    <a:pt x="6366" y="3684"/>
                    <a:pt x="6465" y="3452"/>
                    <a:pt x="6601" y="3248"/>
                  </a:cubicBezTo>
                  <a:lnTo>
                    <a:pt x="6302" y="2949"/>
                  </a:lnTo>
                  <a:cubicBezTo>
                    <a:pt x="6161" y="2808"/>
                    <a:pt x="6140" y="2580"/>
                    <a:pt x="6265" y="2423"/>
                  </a:cubicBezTo>
                  <a:cubicBezTo>
                    <a:pt x="6345" y="2325"/>
                    <a:pt x="6458" y="2276"/>
                    <a:pt x="6571" y="2276"/>
                  </a:cubicBezTo>
                  <a:cubicBezTo>
                    <a:pt x="6671" y="2276"/>
                    <a:pt x="6771" y="2314"/>
                    <a:pt x="6847" y="2391"/>
                  </a:cubicBezTo>
                  <a:lnTo>
                    <a:pt x="7152" y="2696"/>
                  </a:lnTo>
                  <a:cubicBezTo>
                    <a:pt x="7358" y="2560"/>
                    <a:pt x="7588" y="2461"/>
                    <a:pt x="7837" y="2410"/>
                  </a:cubicBezTo>
                  <a:lnTo>
                    <a:pt x="7837" y="1990"/>
                  </a:lnTo>
                  <a:cubicBezTo>
                    <a:pt x="7837" y="1790"/>
                    <a:pt x="7985" y="1614"/>
                    <a:pt x="8184" y="1592"/>
                  </a:cubicBezTo>
                  <a:cubicBezTo>
                    <a:pt x="8199" y="1590"/>
                    <a:pt x="8214" y="1589"/>
                    <a:pt x="8229" y="1589"/>
                  </a:cubicBezTo>
                  <a:close/>
                  <a:moveTo>
                    <a:pt x="2760" y="9401"/>
                  </a:moveTo>
                  <a:cubicBezTo>
                    <a:pt x="3406" y="9401"/>
                    <a:pt x="3933" y="9926"/>
                    <a:pt x="3933" y="10572"/>
                  </a:cubicBezTo>
                  <a:cubicBezTo>
                    <a:pt x="3933" y="11218"/>
                    <a:pt x="3406" y="11744"/>
                    <a:pt x="2760" y="11744"/>
                  </a:cubicBezTo>
                  <a:cubicBezTo>
                    <a:pt x="2114" y="11744"/>
                    <a:pt x="1588" y="11218"/>
                    <a:pt x="1588" y="10572"/>
                  </a:cubicBezTo>
                  <a:cubicBezTo>
                    <a:pt x="1588" y="9926"/>
                    <a:pt x="2114" y="9401"/>
                    <a:pt x="2760" y="9401"/>
                  </a:cubicBezTo>
                  <a:close/>
                  <a:moveTo>
                    <a:pt x="11353" y="10963"/>
                  </a:moveTo>
                  <a:cubicBezTo>
                    <a:pt x="11569" y="10963"/>
                    <a:pt x="11744" y="11138"/>
                    <a:pt x="11744" y="11354"/>
                  </a:cubicBezTo>
                  <a:cubicBezTo>
                    <a:pt x="11744" y="11570"/>
                    <a:pt x="11569" y="11744"/>
                    <a:pt x="11353" y="11744"/>
                  </a:cubicBezTo>
                  <a:cubicBezTo>
                    <a:pt x="11137" y="11744"/>
                    <a:pt x="10962" y="11570"/>
                    <a:pt x="10962" y="11354"/>
                  </a:cubicBezTo>
                  <a:cubicBezTo>
                    <a:pt x="10962" y="11138"/>
                    <a:pt x="11137" y="10963"/>
                    <a:pt x="11353" y="10963"/>
                  </a:cubicBezTo>
                  <a:close/>
                  <a:moveTo>
                    <a:pt x="3950" y="4676"/>
                  </a:moveTo>
                  <a:cubicBezTo>
                    <a:pt x="4129" y="6880"/>
                    <a:pt x="5978" y="8620"/>
                    <a:pt x="8228" y="8620"/>
                  </a:cubicBezTo>
                  <a:cubicBezTo>
                    <a:pt x="9847" y="8620"/>
                    <a:pt x="11258" y="7720"/>
                    <a:pt x="11990" y="6395"/>
                  </a:cubicBezTo>
                  <a:lnTo>
                    <a:pt x="12375" y="9684"/>
                  </a:lnTo>
                  <a:cubicBezTo>
                    <a:pt x="12083" y="9508"/>
                    <a:pt x="11719" y="9401"/>
                    <a:pt x="11353" y="9401"/>
                  </a:cubicBezTo>
                  <a:cubicBezTo>
                    <a:pt x="10277" y="9401"/>
                    <a:pt x="9400" y="10278"/>
                    <a:pt x="9400" y="11354"/>
                  </a:cubicBezTo>
                  <a:cubicBezTo>
                    <a:pt x="9400" y="11796"/>
                    <a:pt x="9552" y="12224"/>
                    <a:pt x="9800" y="12552"/>
                  </a:cubicBezTo>
                  <a:lnTo>
                    <a:pt x="4667" y="12552"/>
                  </a:lnTo>
                  <a:cubicBezTo>
                    <a:pt x="5176" y="12055"/>
                    <a:pt x="5494" y="11338"/>
                    <a:pt x="5494" y="10572"/>
                  </a:cubicBezTo>
                  <a:cubicBezTo>
                    <a:pt x="5494" y="9066"/>
                    <a:pt x="4268" y="7838"/>
                    <a:pt x="2760" y="7838"/>
                  </a:cubicBezTo>
                  <a:cubicBezTo>
                    <a:pt x="2506" y="7838"/>
                    <a:pt x="2266" y="7885"/>
                    <a:pt x="2034" y="7949"/>
                  </a:cubicBezTo>
                  <a:lnTo>
                    <a:pt x="3950" y="4676"/>
                  </a:lnTo>
                  <a:close/>
                  <a:moveTo>
                    <a:pt x="8228" y="1"/>
                  </a:moveTo>
                  <a:cubicBezTo>
                    <a:pt x="6656" y="1"/>
                    <a:pt x="5283" y="877"/>
                    <a:pt x="4533" y="2141"/>
                  </a:cubicBezTo>
                  <a:cubicBezTo>
                    <a:pt x="4490" y="2207"/>
                    <a:pt x="389" y="9153"/>
                    <a:pt x="350" y="9260"/>
                  </a:cubicBezTo>
                  <a:cubicBezTo>
                    <a:pt x="134" y="9652"/>
                    <a:pt x="0" y="10094"/>
                    <a:pt x="0" y="10572"/>
                  </a:cubicBezTo>
                  <a:cubicBezTo>
                    <a:pt x="0" y="12080"/>
                    <a:pt x="1253" y="13332"/>
                    <a:pt x="2760" y="13332"/>
                  </a:cubicBezTo>
                  <a:lnTo>
                    <a:pt x="11353" y="13332"/>
                  </a:lnTo>
                  <a:cubicBezTo>
                    <a:pt x="12430" y="13332"/>
                    <a:pt x="13331" y="12430"/>
                    <a:pt x="13331" y="11354"/>
                  </a:cubicBezTo>
                  <a:cubicBezTo>
                    <a:pt x="13331" y="11194"/>
                    <a:pt x="12508" y="3929"/>
                    <a:pt x="12499" y="3855"/>
                  </a:cubicBezTo>
                  <a:lnTo>
                    <a:pt x="12499" y="3855"/>
                  </a:lnTo>
                  <a:cubicBezTo>
                    <a:pt x="12499" y="3852"/>
                    <a:pt x="12497" y="3850"/>
                    <a:pt x="12496" y="3847"/>
                  </a:cubicBezTo>
                  <a:cubicBezTo>
                    <a:pt x="12258" y="1701"/>
                    <a:pt x="10436" y="1"/>
                    <a:pt x="8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2275" lIns="162275" spcFirstLastPara="1" rIns="162275" wrap="square" tIns="16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"/>
          <p:cNvSpPr txBox="1"/>
          <p:nvPr>
            <p:ph type="title"/>
          </p:nvPr>
        </p:nvSpPr>
        <p:spPr>
          <a:xfrm>
            <a:off x="0" y="167700"/>
            <a:ext cx="568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Rutas Clinicas</a:t>
            </a:r>
            <a:endParaRPr/>
          </a:p>
        </p:txBody>
      </p:sp>
      <p:pic>
        <p:nvPicPr>
          <p:cNvPr id="607" name="Google Shape;607;p11"/>
          <p:cNvPicPr preferRelativeResize="0"/>
          <p:nvPr/>
        </p:nvPicPr>
        <p:blipFill rotWithShape="1">
          <a:blip r:embed="rId3">
            <a:alphaModFix/>
          </a:blip>
          <a:srcRect b="1678" l="18571" r="20479" t="9990"/>
          <a:stretch/>
        </p:blipFill>
        <p:spPr>
          <a:xfrm>
            <a:off x="255625" y="933850"/>
            <a:ext cx="6258976" cy="37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1"/>
          <p:cNvSpPr txBox="1"/>
          <p:nvPr/>
        </p:nvSpPr>
        <p:spPr>
          <a:xfrm>
            <a:off x="6638525" y="1099950"/>
            <a:ext cx="22077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Información clave del paciente y su estado.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 del flujo del paciente mediante botones.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Sincronización automática al actualizar el estado del paciente.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2"/>
          <p:cNvSpPr txBox="1"/>
          <p:nvPr>
            <p:ph type="title"/>
          </p:nvPr>
        </p:nvSpPr>
        <p:spPr>
          <a:xfrm>
            <a:off x="0" y="167700"/>
            <a:ext cx="568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Dashboards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614" name="Google Shape;614;p12"/>
          <p:cNvPicPr preferRelativeResize="0"/>
          <p:nvPr/>
        </p:nvPicPr>
        <p:blipFill rotWithShape="1">
          <a:blip r:embed="rId3">
            <a:alphaModFix/>
          </a:blip>
          <a:srcRect b="0" l="8712" r="11650" t="8458"/>
          <a:stretch/>
        </p:blipFill>
        <p:spPr>
          <a:xfrm>
            <a:off x="348575" y="921825"/>
            <a:ext cx="6413899" cy="37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2"/>
          <p:cNvSpPr txBox="1"/>
          <p:nvPr/>
        </p:nvSpPr>
        <p:spPr>
          <a:xfrm>
            <a:off x="6638525" y="1099950"/>
            <a:ext cx="22077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Centralización y visualización de datos.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Datos variables obtenidos en tiempo real.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Distintas metricas obtenidas mediante Api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3"/>
          <p:cNvSpPr txBox="1"/>
          <p:nvPr>
            <p:ph type="title"/>
          </p:nvPr>
        </p:nvSpPr>
        <p:spPr>
          <a:xfrm>
            <a:off x="0" y="167700"/>
            <a:ext cx="568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NexaThink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621" name="Google Shape;621;p13"/>
          <p:cNvPicPr preferRelativeResize="0"/>
          <p:nvPr/>
        </p:nvPicPr>
        <p:blipFill rotWithShape="1">
          <a:blip r:embed="rId3">
            <a:alphaModFix/>
          </a:blip>
          <a:srcRect b="0" l="9885" r="11031" t="11275"/>
          <a:stretch/>
        </p:blipFill>
        <p:spPr>
          <a:xfrm>
            <a:off x="379550" y="922175"/>
            <a:ext cx="6073077" cy="33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3"/>
          <p:cNvSpPr txBox="1"/>
          <p:nvPr/>
        </p:nvSpPr>
        <p:spPr>
          <a:xfrm>
            <a:off x="6638525" y="1099950"/>
            <a:ext cx="22077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Análisis en tiempo real de los datos.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Detección de patrones y generación de alertas.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4"/>
          <p:cNvSpPr txBox="1"/>
          <p:nvPr>
            <p:ph type="title"/>
          </p:nvPr>
        </p:nvSpPr>
        <p:spPr>
          <a:xfrm>
            <a:off x="0" y="167700"/>
            <a:ext cx="568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Roles de usuario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 txBox="1"/>
          <p:nvPr/>
        </p:nvSpPr>
        <p:spPr>
          <a:xfrm>
            <a:off x="952775" y="914050"/>
            <a:ext cx="728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Dependiendo de las necesidades de cada usuario se le asignó un rol con el cual tendrá acceso a vistas específicas.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29" name="Google Shape;629;p14"/>
          <p:cNvGraphicFramePr/>
          <p:nvPr/>
        </p:nvGraphicFramePr>
        <p:xfrm>
          <a:off x="952500" y="1860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{C8447AE7-EB9E-4DDF-8FBE-C692B7A26649}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Administrador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Secretaria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Medico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Acceso a todas las vistas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Acceso a vistas de gestion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Acceso a vistas de consulta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78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Gestion de pacientes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Dashboards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NexaThink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 de Boxes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Lista de pacientes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Detalle de pacientes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 de Boxes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Mis consultas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Char char="●"/>
                      </a:pPr>
                      <a:r>
                        <a:rPr lang="en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Estado de boxes</a:t>
                      </a:r>
                      <a:endParaRPr sz="12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20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20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Validación</a:t>
            </a:r>
            <a:endParaRPr/>
          </a:p>
        </p:txBody>
      </p:sp>
      <p:grpSp>
        <p:nvGrpSpPr>
          <p:cNvPr id="636" name="Google Shape;636;p20"/>
          <p:cNvGrpSpPr/>
          <p:nvPr/>
        </p:nvGrpSpPr>
        <p:grpSpPr>
          <a:xfrm>
            <a:off x="1297920" y="1827124"/>
            <a:ext cx="2749246" cy="2720114"/>
            <a:chOff x="946175" y="3619500"/>
            <a:chExt cx="296975" cy="293825"/>
          </a:xfrm>
        </p:grpSpPr>
        <p:sp>
          <p:nvSpPr>
            <p:cNvPr id="637" name="Google Shape;637;p20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16050" lIns="716050" spcFirstLastPara="1" rIns="716050" wrap="square" tIns="7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Cliente actual</a:t>
            </a:r>
            <a:endParaRPr/>
          </a:p>
        </p:txBody>
      </p:sp>
      <p:pic>
        <p:nvPicPr>
          <p:cNvPr id="648" name="Google Shape;6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350" y="2037000"/>
            <a:ext cx="2349600" cy="680400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649" name="Google Shape;6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2775" y="2892725"/>
            <a:ext cx="2788650" cy="10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9"/>
          <p:cNvSpPr txBox="1"/>
          <p:nvPr>
            <p:ph idx="1" type="subTitle"/>
          </p:nvPr>
        </p:nvSpPr>
        <p:spPr>
          <a:xfrm>
            <a:off x="859425" y="2517525"/>
            <a:ext cx="38424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La idea de Nexalud surgió entre reuniones con los servicios de salud de Cemin y Núcleo Salud, las cuales nos informaron que existía problemas al tener un seguimiento de las rutas de los pacientes que tienen.</a:t>
            </a:r>
            <a:endParaRPr/>
          </a:p>
        </p:txBody>
      </p:sp>
      <p:sp>
        <p:nvSpPr>
          <p:cNvPr id="651" name="Google Shape;651;p19"/>
          <p:cNvSpPr txBox="1"/>
          <p:nvPr>
            <p:ph idx="2" type="subTitle"/>
          </p:nvPr>
        </p:nvSpPr>
        <p:spPr>
          <a:xfrm>
            <a:off x="859431" y="1718860"/>
            <a:ext cx="40983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Actualmente no poseemos un cliente con el cual estemos trabajando.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18"/>
          <p:cNvPicPr preferRelativeResize="0"/>
          <p:nvPr/>
        </p:nvPicPr>
        <p:blipFill rotWithShape="1">
          <a:blip r:embed="rId3">
            <a:alphaModFix/>
          </a:blip>
          <a:srcRect b="129" l="0" r="0" t="128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8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Evidencias</a:t>
            </a:r>
            <a:endParaRPr/>
          </a:p>
        </p:txBody>
      </p:sp>
      <p:grpSp>
        <p:nvGrpSpPr>
          <p:cNvPr id="658" name="Google Shape;658;p18"/>
          <p:cNvGrpSpPr/>
          <p:nvPr/>
        </p:nvGrpSpPr>
        <p:grpSpPr>
          <a:xfrm>
            <a:off x="1032069" y="1726169"/>
            <a:ext cx="2639899" cy="2611486"/>
            <a:chOff x="-64406125" y="3362225"/>
            <a:chExt cx="318225" cy="314800"/>
          </a:xfrm>
        </p:grpSpPr>
        <p:sp>
          <p:nvSpPr>
            <p:cNvPr id="659" name="Google Shape;659;p18"/>
            <p:cNvSpPr/>
            <p:nvPr/>
          </p:nvSpPr>
          <p:spPr>
            <a:xfrm>
              <a:off x="-64332100" y="3362225"/>
              <a:ext cx="170150" cy="199025"/>
            </a:xfrm>
            <a:custGeom>
              <a:rect b="b" l="l" r="r" t="t"/>
              <a:pathLst>
                <a:path extrusionOk="0" h="7961" w="6806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55525" lIns="655525" spcFirstLastPara="1" rIns="655525" wrap="square" tIns="65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-64406125" y="3559050"/>
              <a:ext cx="318225" cy="117975"/>
            </a:xfrm>
            <a:custGeom>
              <a:rect b="b" l="l" r="r" t="t"/>
              <a:pathLst>
                <a:path extrusionOk="0" h="4719" w="12729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55525" lIns="655525" spcFirstLastPara="1" rIns="655525" wrap="square" tIns="65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a8261a60b0_0_15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a8261a60b0_0_153"/>
          <p:cNvSpPr txBox="1"/>
          <p:nvPr>
            <p:ph idx="1" type="subTitle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a8261a60b0_0_153"/>
          <p:cNvSpPr txBox="1"/>
          <p:nvPr>
            <p:ph idx="2" type="subTitle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a8261a60b0_0_153"/>
          <p:cNvSpPr txBox="1"/>
          <p:nvPr>
            <p:ph idx="3" type="subTitle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a8261a60b0_0_153"/>
          <p:cNvSpPr txBox="1"/>
          <p:nvPr>
            <p:ph idx="4" type="subTitle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8261a60b0_0_16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a8261a60b0_0_161"/>
          <p:cNvSpPr txBox="1"/>
          <p:nvPr>
            <p:ph idx="1" type="subTitle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a8261a60b0_0_161"/>
          <p:cNvSpPr txBox="1"/>
          <p:nvPr>
            <p:ph idx="2" type="subTitle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a8261a60b0_0_161"/>
          <p:cNvSpPr txBox="1"/>
          <p:nvPr>
            <p:ph idx="3" type="subTitle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a8261a60b0_0_161"/>
          <p:cNvSpPr txBox="1"/>
          <p:nvPr>
            <p:ph idx="4" type="subTitle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Competencias de perfil de egreso</a:t>
            </a:r>
            <a:endParaRPr/>
          </a:p>
        </p:txBody>
      </p:sp>
      <p:sp>
        <p:nvSpPr>
          <p:cNvPr id="688" name="Google Shape;688;p15"/>
          <p:cNvSpPr txBox="1"/>
          <p:nvPr>
            <p:ph idx="2" type="subTitle"/>
          </p:nvPr>
        </p:nvSpPr>
        <p:spPr>
          <a:xfrm>
            <a:off x="720000" y="1505250"/>
            <a:ext cx="47877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Levantamiento de requerimientos.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Documentación correspondiente.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Desarrollo de alcance y cronograma del proyecto.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Metodologías ágiles.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Desarrollo Fullstack, bases de datos, modelos predictivos de machine learning.</a:t>
            </a:r>
            <a:endParaRPr sz="1300"/>
          </a:p>
        </p:txBody>
      </p:sp>
      <p:grpSp>
        <p:nvGrpSpPr>
          <p:cNvPr id="689" name="Google Shape;689;p15"/>
          <p:cNvGrpSpPr/>
          <p:nvPr/>
        </p:nvGrpSpPr>
        <p:grpSpPr>
          <a:xfrm>
            <a:off x="5507695" y="1432205"/>
            <a:ext cx="2885571" cy="2430913"/>
            <a:chOff x="7636443" y="1204988"/>
            <a:chExt cx="804565" cy="677795"/>
          </a:xfrm>
        </p:grpSpPr>
        <p:grpSp>
          <p:nvGrpSpPr>
            <p:cNvPr id="690" name="Google Shape;690;p15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691" name="Google Shape;691;p15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5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" name="Google Shape;693;p15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694" name="Google Shape;694;p15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5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6" name="Google Shape;696;p15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697" name="Google Shape;697;p15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5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9" name="Google Shape;699;p15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700" name="Google Shape;700;p15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anchorCtr="0" anchor="ctr" bIns="327900" lIns="327900" spcFirstLastPara="1" rIns="327900" wrap="square" tIns="327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